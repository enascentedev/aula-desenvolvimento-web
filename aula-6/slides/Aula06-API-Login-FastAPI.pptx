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72199" y="594359"/>
            <a:ext cx="5852160" cy="5852160"/>
          </a:xfrm>
          <a:prstGeom prst="ellipse">
            <a:avLst/>
          </a:prstGeom>
          <a:solidFill>
            <a:srgbClr val="1D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79" y="2194560"/>
            <a:ext cx="1188720" cy="23774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3B3470"/>
                </a:solidFill>
                <a:latin typeface="Cascadia Mono"/>
              </a:rPr>
              <a:t>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9" y="2194560"/>
            <a:ext cx="1188720" cy="23774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3B3470"/>
                </a:solidFill>
                <a:latin typeface="Cascadia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59" y="32461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9050">
            <a:solidFill>
              <a:srgbClr val="7C6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09559" y="324612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586C0"/>
                </a:solidFill>
                <a:latin typeface="Cascadia Mono"/>
              </a:rPr>
              <a:t>POST</a:t>
            </a:r>
            <a:r>
              <a:rPr sz="2000" b="1" i="0">
                <a:solidFill>
                  <a:srgbClr val="CE9178"/>
                </a:solidFill>
                <a:latin typeface="Cascadia Mono"/>
              </a:rPr>
              <a:t> /login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66928"/>
            <a:ext cx="96926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escola-tecnica-mesqu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755648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PROGRAMAÇÃO WEB 2  ·  AULA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7132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E8F0"/>
                </a:solidFill>
                <a:latin typeface="Bahnschrift SemiBold Condensed"/>
              </a:rPr>
              <a:t>A API 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7C6CF5"/>
                </a:solidFill>
                <a:latin typeface="Bahnschrift SemiBold Condensed"/>
              </a:rPr>
              <a:t>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39158"/>
            <a:ext cx="384048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4224528"/>
            <a:ext cx="146304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449884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9AB0"/>
                </a:solidFill>
                <a:latin typeface="Segoe UI"/>
              </a:rPr>
              <a:t>Quem confere a senha agora é o servidor.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74336"/>
            <a:ext cx="6766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Segoe UI"/>
              </a:rPr>
              <a:t>Emanuel Nascente  ·  Escola Técnica Mesquita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92531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4EC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5925312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C9A0"/>
                </a:solidFill>
                <a:latin typeface="Cascadia Mono"/>
              </a:rPr>
              <a:t>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24572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2405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240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 API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que vamos fazer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Entender as peças: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cliente, servidor, API, HTTP e JSON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Entender as ferramentas: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FastAPI, venv e uv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e para que serve cada uma.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Construir uma API em Python com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uma rota só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POST /login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Testar tudo no navegador, pelo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Swagger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que o FastAPI gera sozinho.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49145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ONDE PARAMOS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furo da aula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Quem confere a senha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não pode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ser o navegador do visitante.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Na aula passada, bastou digitar </a:t>
            </a:r>
            <a:r>
              <a:rPr sz="1500" b="1" i="0">
                <a:solidFill>
                  <a:srgbClr val="DCDCAA"/>
                </a:solidFill>
                <a:latin typeface="Cascadia Mono"/>
              </a:rPr>
              <a:t>localStorage.setItem("logado", "true")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 no console para entrar sem senha.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E a senha certa está escrita no Login.jsx, que chega inteiro ao navegador: qualquer um lê.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saída: levar essa decisão para o servidor, onde o visitante não mexe.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senha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9178"/>
                </a:solidFill>
                <a:latin typeface="Cascadia Mono"/>
              </a:rPr>
              <a:t>escrita no Login.jsx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sessão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Qualquer 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7178"/>
                </a:solidFill>
                <a:latin typeface="Cascadia Mono"/>
              </a:rPr>
              <a:t>lê e forja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73718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9872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987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CLIENTE E 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Dois programas conversando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3063240" cy="2487168"/>
          </a:xfrm>
          <a:prstGeom prst="roundRect">
            <a:avLst>
              <a:gd name="adj" fmla="val 4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3063240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8F0"/>
                </a:solidFill>
                <a:latin typeface="Bahnschrift SemiBold Condensed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004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React  · 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251460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Desenha a tela e recolhe o que a pessoa digitou. Roda no computador de quem usa — portanto não é confiável.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61527" y="1901952"/>
            <a:ext cx="3063240" cy="2487168"/>
          </a:xfrm>
          <a:prstGeom prst="roundRect">
            <a:avLst>
              <a:gd name="adj" fmla="val 4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561527" y="1901952"/>
            <a:ext cx="3063240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35847" y="217627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8F0"/>
                </a:solidFill>
                <a:latin typeface="Bahnschrift SemiBold Condensed"/>
              </a:rPr>
              <a:t>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5847" y="267004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Python  · 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5847" y="3090672"/>
            <a:ext cx="251460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Guarda as regras e os dados. Roda numa máquina nossa, que o visitante não enxerga por dentro.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956816"/>
            <a:ext cx="4419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C9A0"/>
                </a:solidFill>
                <a:latin typeface="Segoe UI"/>
              </a:rPr>
              <a:t>PEDIDO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272284"/>
            <a:ext cx="4254703" cy="27432"/>
          </a:xfrm>
          <a:prstGeom prst="rect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 rot="5400000">
            <a:off x="8122615" y="2194560"/>
            <a:ext cx="182880" cy="182880"/>
          </a:xfrm>
          <a:prstGeom prst="triangl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977639" y="2432304"/>
            <a:ext cx="4236415" cy="658368"/>
          </a:xfrm>
          <a:prstGeom prst="roundRect">
            <a:avLst>
              <a:gd name="adj" fmla="val 8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160520" y="2514600"/>
            <a:ext cx="3962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me deixa entrar?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9178"/>
                </a:solidFill>
                <a:latin typeface="Cascadia Mono"/>
              </a:rPr>
              <a:t>e-mail + senha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200400"/>
            <a:ext cx="4419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BA7D"/>
                </a:solidFill>
                <a:latin typeface="Segoe UI"/>
              </a:rPr>
              <a:t>RESPOSTA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0792" y="3515868"/>
            <a:ext cx="4254703" cy="27432"/>
          </a:xfrm>
          <a:prstGeom prst="rect">
            <a:avLst/>
          </a:prstGeom>
          <a:solidFill>
            <a:srgbClr val="D7B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Isosceles Triangle 24"/>
          <p:cNvSpPr/>
          <p:nvPr/>
        </p:nvSpPr>
        <p:spPr>
          <a:xfrm rot="16200000">
            <a:off x="3886200" y="3438144"/>
            <a:ext cx="182880" cy="182880"/>
          </a:xfrm>
          <a:prstGeom prst="triangle">
            <a:avLst/>
          </a:prstGeom>
          <a:solidFill>
            <a:srgbClr val="D7B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977639" y="3675888"/>
            <a:ext cx="4236415" cy="411480"/>
          </a:xfrm>
          <a:prstGeom prst="roundRect">
            <a:avLst>
              <a:gd name="adj" fmla="val 8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60520" y="3758184"/>
            <a:ext cx="3962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A0"/>
                </a:solidFill>
                <a:latin typeface="Cascadia Mono"/>
              </a:rPr>
              <a:t>pode entrar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ou  </a:t>
            </a:r>
            <a:r>
              <a:rPr sz="1200" b="0" i="0">
                <a:solidFill>
                  <a:srgbClr val="F07178"/>
                </a:solidFill>
                <a:latin typeface="Cascadia Mono"/>
              </a:rPr>
              <a:t>não pode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663440"/>
            <a:ext cx="11057839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cliente nunca decide sozinho: ele pergunta. Quem decide é o servidor, e a resposta dele é o que vale.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Até hoje nosso sistema só tinha o lado esquerdo. Hoje nasce o direito.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98291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47401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4740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que é uma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API é o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cardápio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do servidor: os pedidos que ele aceita.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API vem de Application Programming Interface: interface de programação. Não é uma tela para gente — é uma porta para outros programas.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Pense num restaurante: o cliente não entra na cozinha. Ele pede ao garçom um prato </a:t>
            </a:r>
            <a:r>
              <a:rPr sz="1500" b="1" i="0">
                <a:solidFill>
                  <a:srgbClr val="E8E8F0"/>
                </a:solidFill>
                <a:latin typeface="Segoe UI"/>
              </a:rPr>
              <a:t>que está no cardápio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, e o garçom traz o prato pronto.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Nossa API vai ter um único item no cardápio: o login. Cada item desses se chama rota (ou endpoint).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O 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9178"/>
                </a:solidFill>
                <a:latin typeface="Cascadia Mono"/>
              </a:rPr>
              <a:t>POST 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API confere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main.py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A resposta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200 ou 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22864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Como é um pedido de verdade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3063240" cy="2487168"/>
          </a:xfrm>
          <a:prstGeom prst="roundRect">
            <a:avLst>
              <a:gd name="adj" fmla="val 4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3063240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8F0"/>
                </a:solidFill>
                <a:latin typeface="Bahnschrift SemiBold Condensed"/>
              </a:rPr>
              <a:t>Pedido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004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251460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Método (o verbo), endereço (a rota) e, quando precisa mandar dados, um corpo.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61527" y="1901952"/>
            <a:ext cx="3063240" cy="2487168"/>
          </a:xfrm>
          <a:prstGeom prst="roundRect">
            <a:avLst>
              <a:gd name="adj" fmla="val 4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561527" y="1901952"/>
            <a:ext cx="3063240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35847" y="217627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8F0"/>
                </a:solidFill>
                <a:latin typeface="Bahnschrift SemiBold Condensed"/>
              </a:rPr>
              <a:t>Resposta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5847" y="2670048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5847" y="3090672"/>
            <a:ext cx="251460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Um código de status, que diz como foi, e um corpo com o resultado.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956816"/>
            <a:ext cx="4419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C9A0"/>
                </a:solidFill>
                <a:latin typeface="Segoe UI"/>
              </a:rPr>
              <a:t>O REACT MANDA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272284"/>
            <a:ext cx="4254703" cy="27432"/>
          </a:xfrm>
          <a:prstGeom prst="rect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 rot="5400000">
            <a:off x="8122615" y="2194560"/>
            <a:ext cx="182880" cy="182880"/>
          </a:xfrm>
          <a:prstGeom prst="triangl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977639" y="2432304"/>
            <a:ext cx="4236415" cy="658368"/>
          </a:xfrm>
          <a:prstGeom prst="roundRect">
            <a:avLst>
              <a:gd name="adj" fmla="val 8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160520" y="2514600"/>
            <a:ext cx="3962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586C0"/>
                </a:solidFill>
                <a:latin typeface="Cascadia Mono"/>
              </a:rPr>
              <a:t>POST</a:t>
            </a:r>
            <a:r>
              <a:rPr sz="1200" b="0" i="0">
                <a:solidFill>
                  <a:srgbClr val="CE9178"/>
                </a:solidFill>
                <a:latin typeface="Cascadia Mono"/>
              </a:rPr>
              <a:t> /login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{"email": "…", "senha": "…"}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200400"/>
            <a:ext cx="4419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BA7D"/>
                </a:solidFill>
                <a:latin typeface="Segoe UI"/>
              </a:rPr>
              <a:t>A API DEVOLVE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0792" y="3515868"/>
            <a:ext cx="4254703" cy="27432"/>
          </a:xfrm>
          <a:prstGeom prst="rect">
            <a:avLst/>
          </a:prstGeom>
          <a:solidFill>
            <a:srgbClr val="D7B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Isosceles Triangle 24"/>
          <p:cNvSpPr/>
          <p:nvPr/>
        </p:nvSpPr>
        <p:spPr>
          <a:xfrm rot="16200000">
            <a:off x="3886200" y="3438144"/>
            <a:ext cx="182880" cy="182880"/>
          </a:xfrm>
          <a:prstGeom prst="triangle">
            <a:avLst/>
          </a:prstGeom>
          <a:solidFill>
            <a:srgbClr val="D7B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977639" y="3675888"/>
            <a:ext cx="4236415" cy="658368"/>
          </a:xfrm>
          <a:prstGeom prst="roundRect">
            <a:avLst>
              <a:gd name="adj" fmla="val 8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60520" y="3758184"/>
            <a:ext cx="3962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C9A0"/>
                </a:solidFill>
                <a:latin typeface="Cascadia Mono"/>
              </a:rPr>
              <a:t>200</a:t>
            </a:r>
            <a:r>
              <a:rPr sz="1200" b="0" i="0">
                <a:solidFill>
                  <a:srgbClr val="9A9AB0"/>
                </a:solidFill>
                <a:latin typeface="Cascadia Mono"/>
              </a:rPr>
              <a:t> OK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{"mensagem": "Login realizado…"}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663440"/>
            <a:ext cx="11057839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HTTP é o idioma dessa conversa — o mesmo que o navegador usa para abrir qualquer site. </a:t>
            </a:r>
            <a:r>
              <a:rPr sz="1450" b="1" i="0">
                <a:solidFill>
                  <a:srgbClr val="C586C0"/>
                </a:solidFill>
                <a:latin typeface="Cascadia Mono"/>
              </a:rPr>
              <a:t>GET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busca algo; </a:t>
            </a:r>
            <a:r>
              <a:rPr sz="1450" b="1" i="0">
                <a:solidFill>
                  <a:srgbClr val="C586C0"/>
                </a:solidFill>
                <a:latin typeface="Cascadia Mono"/>
              </a:rPr>
              <a:t>POST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envia dados para o servidor processar.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Login é POST: a senha vai no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corpo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do pedido, e não pendurada no endereço, onde ficaria no histórico do navegador.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47437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código de status diz como foi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OK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deu certo. Todo pedido volta com um número desses. Aqui: e-mail e senha conferem.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Unauthorized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não autorizado. Aqui: e-mail ou senha errados.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Not Found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essa rota não existe. É o que aparece ao abrir a raiz 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422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Unprocessable Entity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o corpo veio no formato errado, faltando um campo, por exemplo.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72010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JSON: o formato da conversa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4480560" cy="1824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74519"/>
            <a:ext cx="448056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40279"/>
            <a:ext cx="448056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1625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1625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1625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56815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pedido  ·  o React manda (JSON)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58568"/>
            <a:ext cx="420624" cy="14132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58568"/>
            <a:ext cx="10972" cy="14132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96311"/>
            <a:ext cx="365760" cy="1202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96311"/>
            <a:ext cx="347472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"user@email.com"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"senha"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"123456"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1874519"/>
            <a:ext cx="6266383" cy="1824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 Same Side Corner Rectangle 19"/>
          <p:cNvSpPr/>
          <p:nvPr/>
        </p:nvSpPr>
        <p:spPr>
          <a:xfrm>
            <a:off x="5358384" y="1874519"/>
            <a:ext cx="6266383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358384" y="2240279"/>
            <a:ext cx="6266383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559552" y="201625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760720" y="201625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961888" y="201625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7064" y="1956815"/>
            <a:ext cx="5169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resposta  ·  o main.py devolve (dicionário)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2258568"/>
            <a:ext cx="420624" cy="14132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97296" y="2258568"/>
            <a:ext cx="10972" cy="14132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58384" y="2496311"/>
            <a:ext cx="365760" cy="1202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2496311"/>
            <a:ext cx="5260543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"mensagem"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73576"/>
            <a:ext cx="11057839" cy="224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JSON é texto com chaves e valores. O React fala JavaScript, a API fala Python — e os dois sabem ler e escrever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JSON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Em Python, a estrutura parecida se chama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dicionário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O FastAPI converte sozinho: o dicionário que a rota devolve sai como JSON, e o JSON que chega vira um objeto Python.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196583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773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FastAPI e quem vem junto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O framework: escrevemos funções Python e ele as transforma em rotas HTTP. O Pydantic, que vem junto, confere o corpo do pedido.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@app.post("/login")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Framework = o esqueleto pronto; a gente preenche.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O servidor: o programa que fica ligado escutando a porta 8000 e entrega cada pedido que chega para o FastAPI. Sem ele o código não atende ninguém.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fastapi dev 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O fastapi dev liga o Uvicorn por nós.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Swagger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A documentação automática. O FastAPI lê as rotas e monta uma página onde dá para ver e testar cada uma, sem escrever uma linha de front-end.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http://127.0.0.1:8000/docs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6980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Segue o padrão OpenAPI; /redoc mostra outra versão.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66928" y="6711696"/>
            <a:ext cx="221156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AMBIENTE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problema das dependências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Um Python só para todos os projetos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não dá certo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Dependência é um pacote que o projeto usa e que não veio com o Python: o FastAPI é uma. O instalador de pacotes padrão do Python chama pip.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Instalando tudo no Python do computador, os projetos passam a dividir a mesma estante: o de hoje quer a versão 0.141, um antigo quer a 0.100 — e só cabe uma.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Outro problema: o colega clona o projeto e não tem como saber quais pacotes (e quais versões) instalar.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Projeto antigo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fastapi 0.100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Projeto novo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fastapi 0.141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Python do computador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7178"/>
                </a:solidFill>
                <a:latin typeface="Cascadia Mono"/>
              </a:rPr>
              <a:t>só cabe 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245729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venv: um Python só deste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pasta </a:t>
            </a:r>
            <a:r>
              <a:rPr sz="1900" b="1" i="0">
                <a:solidFill>
                  <a:srgbClr val="D7BA7D"/>
                </a:solidFill>
                <a:latin typeface="Cascadia Mono"/>
              </a:rPr>
              <a:t>.venv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é a estante particular do projeto.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8F0"/>
                </a:solidFill>
                <a:latin typeface="Segoe UI"/>
              </a:rPr>
              <a:t>venv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 (virtual environment, ambiente virtual) é uma pasta dentro do projeto com um Python e os pacotes </a:t>
            </a:r>
            <a:r>
              <a:rPr sz="1500" b="1" i="0">
                <a:solidFill>
                  <a:srgbClr val="E8E8F0"/>
                </a:solidFill>
                <a:latin typeface="Segoe UI"/>
              </a:rPr>
              <a:t>só dele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. Cada projeto tem a sua; ninguém briga.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E8E8F0"/>
                </a:solidFill>
                <a:latin typeface="Segoe UI"/>
              </a:rPr>
              <a:t>Ativar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 o venv é avisar ao terminal: “daqui para frente, python e fastapi são os desta pasta”. O sinal é o nome do projeto entre parênteses no começo da linha.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.venv não vai para o GitHub: é pesada e se recria em segundos.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3.12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Pacotes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fastapi, pydantic…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Ambiente do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api-login/.venv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270302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990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uv: uma ferramenta para tudo isso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Instala o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Pedimos a versão 3.12 e o uv resolve: usa a que já existe na máquina ou baixa uma, sem mexer no Python que você já 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uv init api-login --python 3.12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Cria o venv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Um comando cria a pasta .venv com o Python certo dentro. É o mesmo venv de sempre do Python — o uv só faz mais rápido.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5962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703978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uv venv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Cuida dos pacotes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Instala no venv, anota no pyproject.toml e grava as versões exatas no uv.lock — assim o colega instala igualzinho.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5540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93556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uv add "fastapi[standard]"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uv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6980" y="540410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Faz o trabalho do pip, só que muito mais rápido.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294875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990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  · 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Vocês já conhecem isso: é o npm do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CF5"/>
                </a:solidFill>
                <a:latin typeface="Segoe UI"/>
              </a:rPr>
              <a:t>O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5447" y="1901952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CF5"/>
                </a:solidFill>
                <a:latin typeface="Segoe UI"/>
              </a:rPr>
              <a:t>NO REACT (NPM)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691" y="1901952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CF5"/>
                </a:solidFill>
                <a:latin typeface="Segoe UI"/>
              </a:rPr>
              <a:t>NO PYTHON (UV)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14016"/>
            <a:ext cx="11057839" cy="4572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A ficha do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447" y="24140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ascadia Mono"/>
              </a:rPr>
              <a:t>package.json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691" y="24140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ascadia Mono"/>
              </a:rPr>
              <a:t>pyproject.toml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712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As versões exatas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5447" y="28712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ascadia Mono"/>
              </a:rPr>
              <a:t>package-lock.json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691" y="28712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ascadia Mono"/>
              </a:rPr>
              <a:t>uv.lock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28416"/>
            <a:ext cx="11057839" cy="4572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3284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Onde os pacotes moram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5447" y="33284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BA7D"/>
                </a:solidFill>
                <a:latin typeface="Cascadia Mono"/>
              </a:rPr>
              <a:t>node_modules/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691" y="33284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BA7D"/>
                </a:solidFill>
                <a:latin typeface="Cascadia Mono"/>
              </a:rPr>
              <a:t>.venv/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Adicionar um pacote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5447" y="37856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npm install react-router-dom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691" y="37856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uv add "fastapi[standard]"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42816"/>
            <a:ext cx="11057839" cy="4572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Instalar o que a ficha pede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5447" y="42428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npm install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691" y="42428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uv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7000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Rodar em desenvolvimento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5447" y="47000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npm run 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691" y="47000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C9A0"/>
                </a:solidFill>
                <a:latin typeface="Cascadia Mono"/>
              </a:rPr>
              <a:t>fastapi dev main.py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157216"/>
            <a:ext cx="11057839" cy="45720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" y="5157216"/>
            <a:ext cx="3043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Endereço de desenvolvimento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5447" y="51572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E9178"/>
                </a:solidFill>
                <a:latin typeface="Cascadia Mono"/>
              </a:rPr>
              <a:t>localhost:5173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691" y="5157216"/>
            <a:ext cx="359592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E9178"/>
                </a:solidFill>
                <a:latin typeface="Cascadia Mono"/>
              </a:rPr>
              <a:t>127.0.0.1:8000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815584"/>
            <a:ext cx="11057839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 diferença: o node_modules isola sozinho; no Python o venv precisa estar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ativo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66928" y="6711696"/>
            <a:ext cx="319448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Preparar o ambiente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Crie a pasta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C:\projetos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abra no VS Code: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File → Open Folder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(em português: Arquivo → Abrir Pasta).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Abra o terminal: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Terminal → New Terminal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(Terminal → Novo Terminal). No canto do painel tem que aparecer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powershell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Nos slides, digite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só o que vem depois do 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 O </a:t>
            </a:r>
            <a:r>
              <a:rPr sz="1600" b="1" i="0">
                <a:solidFill>
                  <a:srgbClr val="9A9AB0"/>
                </a:solidFill>
                <a:latin typeface="Cascadia Mono"/>
              </a:rPr>
              <a:t>PS C:\projetos&gt;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quem escreve é o próprio terminal.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Um comando por slide: instalar o uv, criar o projeto e o </a:t>
            </a:r>
            <a:r>
              <a:rPr sz="1600" b="1" i="0">
                <a:solidFill>
                  <a:srgbClr val="D7BA7D"/>
                </a:solidFill>
                <a:latin typeface="Cascadia Mono"/>
              </a:rPr>
              <a:t>.venv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ativar e adicionar o FastAPI. Compare a saída antes de seguir.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344021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148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INSTALAR O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Instalando o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21000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688591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688591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478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12405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powershell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586C0"/>
                </a:solidFill>
                <a:latin typeface="Cascadia Mono"/>
              </a:rPr>
              <a:t>-ExecutionPolicy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ByPass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586C0"/>
                </a:solidFill>
                <a:latin typeface="Cascadia Mono"/>
              </a:rPr>
              <a:t>-c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E9178"/>
                </a:solidFill>
                <a:latin typeface="Cascadia Mono"/>
              </a:rPr>
              <a:t>"irm https://astral.sh/uv/install.ps1 | iex"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Downloading uv (x86_64-pc-windows-msvc)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Installing to C:\Users\aluno\.local\bin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 uv.exe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 uvx.exe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everything's installed!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203192"/>
            <a:ext cx="6531559" cy="199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Digite (ou copie) só a parte depois de </a:t>
            </a:r>
            <a:r>
              <a:rPr sz="1400" b="1" i="0">
                <a:solidFill>
                  <a:srgbClr val="E8E8F0"/>
                </a:solidFill>
                <a:latin typeface="Cascadia Mono"/>
              </a:rPr>
              <a:t>PS C:\projetos&gt;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 aperte Enter. É uma linha só, e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só se faz uma vez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por computador.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O instalador coloca o uv numa pasta do usuário e a adiciona ao PATH — a lista de lugares onde o terminal procura programas.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 versão e os detalhes da saída podem variar; o que importa é o everything's installed! no fim.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42031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42031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43129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Agora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feche o VS Code inteiro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e abra de novo. O terminal só enxerga o PATH novo quando nasce depois da instalação.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368594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148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INSTALAR O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Conferindo a instalação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12364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8249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8249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61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376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uv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586C0"/>
                </a:solidFill>
                <a:latin typeface="Cascadia Mono"/>
              </a:rPr>
              <a:t>--version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uv 0.6.10 (f2a2d982b 2025-03-25)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339592"/>
            <a:ext cx="6531559" cy="286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Se aparecer uv seguido de um número de versão, está pronto. O número no seu computador provavelmente vai ser outro —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tudo bem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Não precisa instalar o Python antes: o uv cuida disso no próximo passo.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33395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33395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34493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Deu </a:t>
            </a:r>
            <a:r>
              <a:rPr sz="1250" b="1" i="0">
                <a:solidFill>
                  <a:srgbClr val="F07178"/>
                </a:solidFill>
                <a:latin typeface="Cascadia Mono"/>
              </a:rPr>
              <a:t>O termo 'uv' não é reconhecido…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? O terminal é anterior à instalação. Feche o VS Code inteiro, abra de novo e repita.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393167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Criando 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16682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2567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2567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04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uv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init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api-login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586C0"/>
                </a:solidFill>
                <a:latin typeface="Cascadia Mono"/>
              </a:rPr>
              <a:t>--python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3.12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Initialized project `api-login` at `C:\projetos\api-login`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cd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api-login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C:\projetos\api-login&gt;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71392"/>
            <a:ext cx="6531559" cy="2428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CDCAA"/>
                </a:solidFill>
                <a:latin typeface="Cascadia Mono"/>
              </a:rPr>
              <a:t>uv init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cria a pasta </a:t>
            </a:r>
            <a:r>
              <a:rPr sz="1400" b="1" i="0">
                <a:solidFill>
                  <a:srgbClr val="9CDCFE"/>
                </a:solidFill>
                <a:latin typeface="Cascadia Mono"/>
              </a:rPr>
              <a:t>api-login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com o esqueleto de um projeto Python. O </a:t>
            </a:r>
            <a:r>
              <a:rPr sz="1400" b="1" i="0">
                <a:solidFill>
                  <a:srgbClr val="C586C0"/>
                </a:solidFill>
                <a:latin typeface="Cascadia Mono"/>
              </a:rPr>
              <a:t>--python 3.12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fixa a versão do Python — todo mundo da turma usa a mesma.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Depois, </a:t>
            </a:r>
            <a:r>
              <a:rPr sz="1400" b="1" i="0">
                <a:solidFill>
                  <a:srgbClr val="DCDCAA"/>
                </a:solidFill>
                <a:latin typeface="Cascadia Mono"/>
              </a:rPr>
              <a:t>cd api-login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entra na pasta. Todos os comandos seguintes são dados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de dentro dela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37713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37713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38811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Confira o fim da linha do terminal: tem que terminar em </a:t>
            </a:r>
            <a:r>
              <a:rPr sz="1250" b="1" i="0">
                <a:solidFill>
                  <a:srgbClr val="9CDCFE"/>
                </a:solidFill>
                <a:latin typeface="Cascadia Mono"/>
              </a:rPr>
              <a:t>\api-login&gt;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. Se não terminar, os próximos passos falham.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17740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O que o uv init criou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681228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Explorer  ·  api-login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60522"/>
            <a:ext cx="580644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/>
            </a:r>
            <a:r>
              <a:rPr sz="1300" b="0" i="0">
                <a:solidFill>
                  <a:srgbClr val="D7BA7D"/>
                </a:solidFill>
                <a:latin typeface="Cascadia Mono"/>
              </a:rPr>
              <a:t>api-login/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/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300" b="0" i="0">
                <a:solidFill>
                  <a:srgbClr val="D7BA7D"/>
                </a:solidFill>
                <a:latin typeface="Cascadia Mono"/>
              </a:rPr>
              <a:t>.git/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  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o repositório do Git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.gitignore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o que o Git não guarda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.python-version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a versão do Python: 3.12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main.py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o nosso código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pyproject.toml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a ficha do projeto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└──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README.md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a descrição do projeto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pyproject.toml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a ficha do projeto: nome, versão do Python e dependências — o package.json do Python.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.python-version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diz ao uv qual Python usar neste projeto.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main.py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veio com um “Hello” de exemplo. Vamos trocar tudo por nossa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.git e .gitignore só aparecem se o Git estiver instalado.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42313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Criando o ambiente virtual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16682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2567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2567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04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uv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venv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Using CPython 3.12.9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Creating virtual environment at: .venv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Activate with: .venv\Scripts\activate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71392"/>
            <a:ext cx="6531559" cy="2428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CDCAA"/>
                </a:solidFill>
                <a:latin typeface="Cascadia Mono"/>
              </a:rPr>
              <a:t>uv venv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cria a pasta </a:t>
            </a:r>
            <a:r>
              <a:rPr sz="1400" b="1" i="0">
                <a:solidFill>
                  <a:srgbClr val="D7BA7D"/>
                </a:solidFill>
                <a:latin typeface="Cascadia Mono"/>
              </a:rPr>
              <a:t>.venv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dentro do projeto, com o Python 3.12. Se a máquina não tiver essa versão, o uv baixa antes — aparece uma linha Downloading a mais.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Repare na última linha: o próprio uv já ensina o comando do próximo slide.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37713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37713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38811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Por enquanto a .venv tem só o Python. Os pacotes entram daqui a dois slides, com o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uv add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66886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Ativando o venv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23159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9044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9044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6941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1456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.venv\Scripts\activate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A0"/>
                </a:solidFill>
                <a:latin typeface="Cascadia Mono"/>
              </a:rPr>
              <a:t>(api-login)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PS C:\projetos\api-login&gt;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# no Prompt de Comando (cmd), o mesmo comando: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C:\projetos\api-login&gt; .venv\Scripts\activate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# no Git Bash: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$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source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.venv/Scripts/activate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19092"/>
            <a:ext cx="6531559" cy="178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Deu certo quando aparece </a:t>
            </a:r>
            <a:r>
              <a:rPr sz="1400" b="1" i="0">
                <a:solidFill>
                  <a:srgbClr val="4EC9A0"/>
                </a:solidFill>
                <a:latin typeface="Cascadia Mono"/>
              </a:rPr>
              <a:t>(api-login)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no começo da linha. A partir daí, python e fastapi são os da .venv.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 ativação vale só para aquele terminal: abriu outro, ative de novo.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44190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44190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45288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Erro </a:t>
            </a:r>
            <a:r>
              <a:rPr sz="1250" b="1" i="0">
                <a:solidFill>
                  <a:srgbClr val="F07178"/>
                </a:solidFill>
                <a:latin typeface="Cascadia Mono"/>
              </a:rPr>
              <a:t>a execução de scripts foi desabilitada neste sistema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? Rode uma vez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Set-ExecutionPolicy -Scope CurrentUser RemoteSigned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, responda S e ative de novo.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91459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2389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2389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OS PACOTES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Adicionando o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23159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9044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9044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6941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1456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A0"/>
                </a:solidFill>
                <a:latin typeface="Cascadia Mono"/>
              </a:rPr>
              <a:t>(api-login)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uv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add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CE9178"/>
                </a:solidFill>
                <a:latin typeface="Cascadia Mono"/>
              </a:rPr>
              <a:t>"fastapi[standard]==0.141.1"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Resolved 46 packages in 2.01s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Installed 44 packages in 5.23s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+ fastapi==0.141.1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+ pydantic==2.13.5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+ uvicorn==0.53.0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... e mais 41 pacotes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19092"/>
            <a:ext cx="6531559" cy="178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86C0"/>
                </a:solidFill>
                <a:latin typeface="Cascadia Mono"/>
              </a:rPr>
              <a:t>[standard]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pede o FastAPI com os extras: o Uvicorn e o comando fastapi. </a:t>
            </a:r>
            <a:r>
              <a:rPr sz="1400" b="1" i="0">
                <a:solidFill>
                  <a:srgbClr val="C586C0"/>
                </a:solidFill>
                <a:latin typeface="Cascadia Mono"/>
              </a:rPr>
              <a:t>==0.141.1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fixa a versão — a mesma para toda a turma.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As aspas são obrigatórias: sem elas o terminal pode entender os colchetes do jeito dele.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44190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44190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45288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São ~44 pacotes porque o FastAPI também tem as dependências dele. O uv resolve a árvore inteira sozinho.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516032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2389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2389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 ·  OS PACOTES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O que o uv add mudou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681228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pyproject.toml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25874"/>
            <a:ext cx="630021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3258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580644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[project]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name = "api-login"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version = "0.1.0"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description = "Add your description here"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readme = "README.md"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requires-python = "&gt;=3.12"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dependencies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"fastapi[standard]==0.141.1"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Três coisas, e nenhuma delas a gente edita à mão: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pyproject.toml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ganhou o FastAPI na lista de dependências.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uv.lock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apareceu com a versão exata de cada um dos 44 pacotes.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D7BA7D"/>
                </a:solidFill>
                <a:latin typeface="Cascadia Mono"/>
              </a:rPr>
              <a:t>.venv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recebeu os pacotes instalados de fato.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Para instalar ou remover pacote, use sempre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uv add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e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uv remove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540605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Escrever 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Um arquivo só. No Explorer do VS Code, abra api-login → main.py, apague tudo o que o uv init deixou nele e vá digitando pedaço por pedaço. Salve sempre com Ctrl+S.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Importar o FastAPI e criar 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app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Descrever o corpo do pedido com uma classe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BaseModel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Criar a rota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POST /login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responder 200 se bater e 401 se não bater.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565178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47401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4740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ANTES DE DIGITAR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Como ler os painéis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681228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exemplo  ·  não digite este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084574"/>
            <a:ext cx="630021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0845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580644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def login(dados: DadosLogin):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email_certo = dados.email == "user@email.com"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senha_certa = dados.senha == "123456"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email_certo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and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senha_certa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o dicionario vira JSON, status 200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8F0"/>
                </a:solidFill>
                <a:latin typeface="Segoe UI"/>
              </a:rPr>
              <a:t>Faixa roxa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é o que você digita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agora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E8E8F0"/>
                </a:solidFill>
                <a:latin typeface="Segoe UI"/>
              </a:rPr>
              <a:t>Linhas apagadas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já estão no seu arquivo, dos slides anteriores. Aparecem só para mostrar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onde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escrever. Não digite de novo.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6A6A80"/>
                </a:solidFill>
                <a:latin typeface="Cascadia Mono"/>
              </a:rPr>
              <a:t># ...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um pedaço do arquivo que não cabe no slide. Não digite.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Trecho digitado duas vezes: sem erro nenhum, a API aceita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qualquer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senha.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589751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  ·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FastAPI()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681228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6300216" cy="12887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2887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60522"/>
            <a:ext cx="580644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fastapi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FastAPI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HTTPException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pydantic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BaseModel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a aplicacao: as rotas sao penduradas nela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FastAPI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title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"API do Ponto Eletrônico"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586C0"/>
                </a:solidFill>
                <a:latin typeface="Cascadia Mono"/>
              </a:rPr>
              <a:t>from … import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import do Python: traz o FastAPI e o HTTPException do pacote fastapi, e o BaseModel do pydantic.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app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a aplicação. Todas as rotas vão ser penduradas nela.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title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nome que aparece no topo do Swagger.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Linha que começa com </a:t>
            </a:r>
            <a:r>
              <a:rPr sz="1250" b="1" i="0">
                <a:solidFill>
                  <a:srgbClr val="6A6A80"/>
                </a:solidFill>
                <a:latin typeface="Cascadia Mono"/>
              </a:rPr>
              <a:t>#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é comentário: o Python ignora.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14324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  ·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BaseModel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681228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·  digite só a faixa destacada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630021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39872"/>
            <a:ext cx="580644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o formato do corpo que o front-end manda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class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BaseModel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str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str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descreve o corpo que o pedido precisa ter: um email e uma senha, os dois texto (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str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).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Herdar de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BaseModel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liga o Pydantic: se faltar um campo, a API recusa com 422 antes de rodar o nosso código.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 o Swagger usa essa classe para montar o exemplo de corpo.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Em Python, a indentação faz parte do código: os campos ficam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4 espaços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para dentro da classe.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38897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  ·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@app.post("/login")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681228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·  digite só a faixa destacada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6300216" cy="12887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12887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580644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POST /login: confere o e-mail e a senha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DCAA"/>
                </a:solidFill>
                <a:latin typeface="Cascadia Mono"/>
              </a:rPr>
              <a:t>@app.post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"/login"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def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email_certo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"user@email.com"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senha_certa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"123456"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@app.post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logo acima da função é um decorador: ele pendura a função na app como a rota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POST /login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dados: DadosLogin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diz ao FastAPI para ler o corpo do pedido e entregar já no formato da classe.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Cada </a:t>
            </a:r>
            <a:r>
              <a:rPr sz="1450" b="1" i="0">
                <a:solidFill>
                  <a:srgbClr val="C8C8D4"/>
                </a:solidFill>
                <a:latin typeface="Cascadia Mono"/>
              </a:rPr>
              <a:t>==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compara e guarda True ou False.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Não esqueça os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dois-pontos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no fim da linha do def.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63470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  ·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14830"/>
            <a:ext cx="6812280" cy="3996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148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1805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565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565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565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8971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·  digite só a faixa destacada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01974"/>
            <a:ext cx="6300216" cy="15300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601974"/>
            <a:ext cx="32004" cy="15300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198878"/>
            <a:ext cx="420624" cy="3584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198878"/>
            <a:ext cx="10972" cy="3584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436622"/>
            <a:ext cx="365760" cy="337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436622"/>
            <a:ext cx="5806440" cy="313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def login(dados: DadosLogin):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email_certo = dados.email == "user@email.com"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senha_certa = dados.senha == "123456"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email_certo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and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senha_certa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o dicionario vira JSON, status 200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"mensagem"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 as duas comparações deram True, a função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devolve um dicionário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FastAPI transforma o dicionário em JSON e responde com status </a:t>
            </a:r>
            <a:r>
              <a:rPr sz="1450" b="1" i="0">
                <a:solidFill>
                  <a:srgbClr val="4EC9A0"/>
                </a:solidFill>
                <a:latin typeface="Cascadia Mono"/>
              </a:rPr>
              <a:t>200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— sem a gente escrever nada sobre isso.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return encerra a função: o que vem depois não roda.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Compare com a aula 4: é a mesma conferência do handleSubmit — só mudou de lado.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88043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  ·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HTTPException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14830"/>
            <a:ext cx="6812280" cy="3996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14830"/>
            <a:ext cx="681228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180590"/>
            <a:ext cx="681228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565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565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565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897126"/>
            <a:ext cx="571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·  digite só a faixa destacada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25874"/>
            <a:ext cx="6300216" cy="12887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325874"/>
            <a:ext cx="32004" cy="12887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198878"/>
            <a:ext cx="420624" cy="3584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198878"/>
            <a:ext cx="10972" cy="3584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436622"/>
            <a:ext cx="365760" cy="337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436622"/>
            <a:ext cx="5806440" cy="313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#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if email_certo and senha_certa: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# o dicionario vira JSON, status 200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return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  "mensagem": "Login realizado com sucesso!",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  "email": dados.email,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# chegou aqui: algo nao bateu, status 401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raise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HTTPException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status_code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B5CEA8"/>
                </a:solidFill>
                <a:latin typeface="Cascadia Mono"/>
              </a:rPr>
              <a:t>401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detail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"E-mail ou senha incorretos."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37576" y="1700784"/>
            <a:ext cx="3587191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 o código chegou aqui, o if não entrou: algo não bateu.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C586C0"/>
                </a:solidFill>
                <a:latin typeface="Cascadia Mono"/>
              </a:rPr>
              <a:t>raise HTTPException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interrompe a função e responde na hora com o status </a:t>
            </a:r>
            <a:r>
              <a:rPr sz="1450" b="1" i="0">
                <a:solidFill>
                  <a:srgbClr val="F07178"/>
                </a:solidFill>
                <a:latin typeface="Cascadia Mono"/>
              </a:rPr>
              <a:t>401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 o texto do detail.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mensagem não diz se o erro foi no e-mail ou na senha — de propósito: não damos pistas para quem tenta adivinhar.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4919472"/>
            <a:ext cx="3587191" cy="107899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57032" y="5010912"/>
            <a:ext cx="314827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O raise fica no nível do if (4 espaços),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fora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dele.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712616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47401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4740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ESCREVENDO 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main.py inteiro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4846320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481328"/>
            <a:ext cx="4846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4846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563624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 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03120"/>
            <a:ext cx="3840480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fastapi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FastAPI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HTTPException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pydantic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BaseModel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# a aplicacao: as rotas sao penduradas nela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ascadia Mono"/>
              </a:rPr>
              <a:t>app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FastAPI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title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"API do Ponto Eletrônico"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)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# o formato do corpo que o front-end manda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586C0"/>
                </a:solidFill>
                <a:latin typeface="Cascadia Mono"/>
              </a:rPr>
              <a:t>class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BaseModel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str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str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1481328"/>
            <a:ext cx="5937199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5687568" y="1481328"/>
            <a:ext cx="593719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87568" y="1847088"/>
            <a:ext cx="593719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888736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089903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291072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56248" y="1563624"/>
            <a:ext cx="48399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main.py   (2)  continuação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05855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26479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687568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14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18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19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20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21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22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23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24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25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26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27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28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29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30</a:t>
            </a:r>
          </a:p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03120"/>
            <a:ext cx="4931359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80"/>
                </a:solidFill>
                <a:latin typeface="Cascadia Mono"/>
              </a:rPr>
              <a:t># POST /login: confere o e-mail e a senha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DCAA"/>
                </a:solidFill>
                <a:latin typeface="Cascadia Mono"/>
              </a:rPr>
              <a:t>@app.post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"/login"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)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586C0"/>
                </a:solidFill>
                <a:latin typeface="Cascadia Mono"/>
              </a:rPr>
              <a:t>def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email_certo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"user@email.com"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senha_certa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"123456"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email_certo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and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senha_certa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050" b="0" i="0">
                <a:solidFill>
                  <a:srgbClr val="6A6A80"/>
                </a:solidFill>
                <a:latin typeface="Cascadia Mono"/>
              </a:rPr>
              <a:t># o dicionario vira JSON, status 200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"mensagem"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"email"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dados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6A6A80"/>
                </a:solidFill>
                <a:latin typeface="Cascadia Mono"/>
              </a:rPr>
              <a:t># chegou aqui: algo nao bateu, status 401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C586C0"/>
                </a:solidFill>
                <a:latin typeface="Cascadia Mono"/>
              </a:rPr>
              <a:t>raise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050" b="0" i="0">
                <a:solidFill>
                  <a:srgbClr val="4EC9F0"/>
                </a:solidFill>
                <a:latin typeface="Cascadia Mono"/>
              </a:rPr>
              <a:t>HTTPException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status_code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B5CEA8"/>
                </a:solidFill>
                <a:latin typeface="Cascadia Mono"/>
              </a:rPr>
              <a:t>401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050" b="0" i="0">
                <a:solidFill>
                  <a:srgbClr val="9CDCFE"/>
                </a:solidFill>
                <a:latin typeface="Cascadia Mono"/>
              </a:rPr>
              <a:t>detail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050" b="0" i="0">
                <a:solidFill>
                  <a:srgbClr val="CE9178"/>
                </a:solidFill>
                <a:latin typeface="Cascadia Mono"/>
              </a:rPr>
              <a:t>"E-mail ou senha incorretos."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,</a:t>
            </a:r>
          </a:p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050" b="0" i="0">
                <a:solidFill>
                  <a:srgbClr val="C8C8D4"/>
                </a:solidFill>
                <a:latin typeface="Cascadia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Segoe UI"/>
              </a:rPr>
              <a:t>Confira linha a linha, indentação inclusive. </a:t>
            </a:r>
            <a:r>
              <a:rPr sz="1200" b="1" i="0">
                <a:solidFill>
                  <a:srgbClr val="E8E8F0"/>
                </a:solidFill>
                <a:latin typeface="Segoe UI"/>
              </a:rPr>
              <a:t>Nada a mais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: um def login só. Depois, salve (Ctrl+S).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737189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Rodar e testar no Swagger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 terminal fica ocupado com o servidor ligado. Não feche: se fechar, a API desliga.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Subir o servidor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fastapi dev main.py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Abrir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http://127.0.0.1:8000/docs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navegador.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Testar três pedidos: senha certa, senha errada e corpo incompleto.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761762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RODAR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Ligando o servidor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21000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688591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688591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478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12405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A0"/>
                </a:solidFill>
                <a:latin typeface="Cascadia Mono"/>
              </a:rPr>
              <a:t>(api-login)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fastapi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dev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main.py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  Starting FastAPI in development mode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  Server started at http://127.0.0.1:8000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   Documentation at http://127.0.0.1:8000/docs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INFO:     Uvicorn running on http://127.0.0.1:8000 (Press CTRL+C to quit)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Cascadia Mono"/>
              </a:rPr>
              <a:t>INFO:     Application startup complete.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203192"/>
            <a:ext cx="6531559" cy="199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CDCAA"/>
                </a:solidFill>
                <a:latin typeface="Cascadia Mono"/>
              </a:rPr>
              <a:t>fastapi dev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liga o Uvicorn apontando para a app do main.py. As linhas Server started e Documentation trazem os dois endereços.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Segure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Ctrl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 clique no endereço do /docs para abrir no navegador. A saída real tem mais algumas linhas — tudo bem.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E8E8F0"/>
                </a:solidFill>
                <a:latin typeface="Segoe UI"/>
              </a:rPr>
              <a:t>Modo dev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: salvou o main.py, o servidor reinicia sozinho. Para desligar,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Ctrl+C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no terminal.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42031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42031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43129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E9178"/>
                </a:solidFill>
                <a:latin typeface="Cascadia Mono"/>
              </a:rPr>
              <a:t>127.0.0.1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é o próprio computador (o mesmo que localhost) e </a:t>
            </a:r>
            <a:r>
              <a:rPr sz="1250" b="1" i="0">
                <a:solidFill>
                  <a:srgbClr val="B5CEA8"/>
                </a:solidFill>
                <a:latin typeface="Cascadia Mono"/>
              </a:rPr>
              <a:t>8000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é a porta. O Vite do React usava a 5173.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786335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989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SWAGGER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http://127.0.0.1:8000/docs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037540"/>
            <a:ext cx="7534655" cy="3642455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1975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1975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1975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2128980"/>
            <a:ext cx="6382512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2128980"/>
            <a:ext cx="612647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1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39876"/>
            <a:ext cx="7498079" cy="322183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30767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05088" y="1700784"/>
            <a:ext cx="2919679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Esta página é o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Swagger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 Ninguém escreveu: o FastAPI montou lendo o main.py.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No topo, o </a:t>
            </a:r>
            <a:r>
              <a:rPr sz="1400" b="1" i="0">
                <a:solidFill>
                  <a:srgbClr val="9CDCFE"/>
                </a:solidFill>
                <a:latin typeface="Cascadia Mono"/>
              </a:rPr>
              <a:t>title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da app. Embaixo, a nossa única rota, com o verbo em verde.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Em Schemas está o </a:t>
            </a:r>
            <a:r>
              <a:rPr sz="1400" b="1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— a classe virou documentação.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4974336"/>
            <a:ext cx="2919679" cy="1024128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7967" y="5084064"/>
            <a:ext cx="25539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Segoe UI"/>
              </a:rPr>
              <a:t>Clique na faixa verde </a:t>
            </a:r>
            <a:r>
              <a:rPr sz="1200" b="1" i="0">
                <a:solidFill>
                  <a:srgbClr val="CE9178"/>
                </a:solidFill>
                <a:latin typeface="Cascadia Mono"/>
              </a:rPr>
              <a:t>POST /login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 para abrir a rota.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810908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989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SWAGGER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Try it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35987"/>
            <a:ext cx="7534655" cy="2845561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596007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596007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596007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2527427"/>
            <a:ext cx="6382512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2527427"/>
            <a:ext cx="612647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2-try-it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38323"/>
            <a:ext cx="7498079" cy="242493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30767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05088" y="1700784"/>
            <a:ext cx="2919679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 rota aberta mostra o que ela espera: nenhum parâmetro no endereço e um Request body obrigatório (required).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O exemplo com </a:t>
            </a:r>
            <a:r>
              <a:rPr sz="1400" b="1" i="0">
                <a:solidFill>
                  <a:srgbClr val="CE9178"/>
                </a:solidFill>
                <a:latin typeface="Cascadia Mono"/>
              </a:rPr>
              <a:t>"string"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saiu da classe DadosLogin: dois campos de texto.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Clique em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Try it out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, à direita: o exemplo vira uma caixa editável.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835481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989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SWAGGER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Preenchendo e executando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659636"/>
            <a:ext cx="6928937" cy="4398264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819656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819656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819656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1751076"/>
            <a:ext cx="5776793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1751076"/>
            <a:ext cx="552076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3-exec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1972"/>
            <a:ext cx="6892361" cy="397763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30767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05088" y="1700784"/>
            <a:ext cx="2919679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Troque os dois </a:t>
            </a:r>
            <a:r>
              <a:rPr sz="1400" b="1" i="0">
                <a:solidFill>
                  <a:srgbClr val="CE9178"/>
                </a:solidFill>
                <a:latin typeface="Cascadia Mono"/>
              </a:rPr>
              <a:t>"string"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pelas credenciais de teste: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>
                <a:solidFill>
                  <a:srgbClr val="CE9178"/>
                </a:solidFill>
                <a:latin typeface="Cascadia Mono"/>
              </a:rPr>
              <a:t>user@email.com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 </a:t>
            </a:r>
            <a:r>
              <a:rPr sz="1400" b="1" i="0">
                <a:solidFill>
                  <a:srgbClr val="CE9178"/>
                </a:solidFill>
                <a:latin typeface="Cascadia Mono"/>
              </a:rPr>
              <a:t>123456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Mantenha as aspas duplas e a vírgula entre os campos. Depois, </a:t>
            </a:r>
            <a:r>
              <a:rPr sz="1400" b="1" i="0">
                <a:solidFill>
                  <a:srgbClr val="E8E8F0"/>
                </a:solidFill>
                <a:latin typeface="Segoe UI"/>
              </a:rPr>
              <a:t>Execute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4974336"/>
            <a:ext cx="2919679" cy="1024128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7967" y="5084064"/>
            <a:ext cx="25539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B0"/>
                </a:solidFill>
                <a:latin typeface="Segoe UI"/>
              </a:rPr>
              <a:t>O Swagger faz o papel do React: monta o pedido POST e manda para a API de verdade.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860054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773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TESTANDO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Senha certa: 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856231"/>
            <a:ext cx="11094415" cy="1936694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01625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01625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01625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1947672"/>
            <a:ext cx="9942271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1947672"/>
            <a:ext cx="9686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4-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58568"/>
            <a:ext cx="11057839" cy="15160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094678"/>
            <a:ext cx="6531559" cy="2104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Role até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Server response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Code </a:t>
            </a:r>
            <a:r>
              <a:rPr sz="1450" b="1" i="0">
                <a:solidFill>
                  <a:srgbClr val="4EC9A0"/>
                </a:solidFill>
                <a:latin typeface="Cascadia Mono"/>
              </a:rPr>
              <a:t>200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e, no Response body, o dicionário do return virado JSON.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Ao mesmo tempo, o terminal registra o pedido numa linha nova: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"POST /login HTTP/1.1" 200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8527" y="4094678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418527" y="4094678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56271" y="4204406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Acima do resultado, o Swagger mostra o mesmo pedido como comando curl — um jeito de chamar a API sem navegador.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884627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773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TESTANDO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Senha errada: 401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856231"/>
            <a:ext cx="11094415" cy="2107252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01625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01625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01625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1947672"/>
            <a:ext cx="9942271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1947672"/>
            <a:ext cx="9686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5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58568"/>
            <a:ext cx="11057839" cy="1686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265236"/>
            <a:ext cx="11057839" cy="1934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Troque a senha por qualquer outra coisa e execute de novo. Agora a resposta é </a:t>
            </a:r>
            <a:r>
              <a:rPr sz="1450" b="1" i="0">
                <a:solidFill>
                  <a:srgbClr val="F07178"/>
                </a:solidFill>
                <a:latin typeface="Cascadia Mono"/>
              </a:rPr>
              <a:t>401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com o detail do HTTPException: foi o raise que respondeu.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esta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resposta que o Login.jsx vai receber para mostrar a mensagem de erro na tela.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909200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7739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 ·  TESTANDO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Campo faltando: 422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940560"/>
            <a:ext cx="7534655" cy="3836416"/>
          </a:xfrm>
          <a:prstGeom prst="roundRect">
            <a:avLst>
              <a:gd name="adj" fmla="val 3000"/>
            </a:avLst>
          </a:prstGeom>
          <a:solidFill>
            <a:srgbClr val="242432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10058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10058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10058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81328" y="2032000"/>
            <a:ext cx="6382512" cy="237744"/>
          </a:xfrm>
          <a:prstGeom prst="roundRect">
            <a:avLst>
              <a:gd name="adj" fmla="val 50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1" y="2032000"/>
            <a:ext cx="612647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B0"/>
                </a:solidFill>
                <a:latin typeface="Cascadia Mono"/>
              </a:rPr>
              <a:t>127.0.0.1:8000/docs</a:t>
            </a:r>
          </a:p>
        </p:txBody>
      </p:sp>
      <p:pic>
        <p:nvPicPr>
          <p:cNvPr id="14" name="Picture 13" descr="swagger-6-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896"/>
            <a:ext cx="7498079" cy="341579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30767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05088" y="1700784"/>
            <a:ext cx="2919679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Apague a linha da senha (e a vírgula que sobrou) e execute.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>
                <a:solidFill>
                  <a:srgbClr val="D7BA7D"/>
                </a:solidFill>
                <a:latin typeface="Cascadia Mono"/>
              </a:rPr>
              <a:t>422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: nosso código nem rodou. O Pydantic viu que faltava </a:t>
            </a:r>
            <a:r>
              <a:rPr sz="1400" b="1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no </a:t>
            </a:r>
            <a:r>
              <a:rPr sz="1400" b="1" i="0">
                <a:solidFill>
                  <a:srgbClr val="9CDCFE"/>
                </a:solidFill>
                <a:latin typeface="Cascadia Mono"/>
              </a:rPr>
              <a:t>body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 recusou — é o "Field required".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Essa validação veio de graça, só por termos escrito a classe.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4974336"/>
            <a:ext cx="2919679" cy="1024128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7967" y="5084064"/>
            <a:ext cx="25539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8F0"/>
                </a:solidFill>
                <a:latin typeface="Segoe UI"/>
              </a:rPr>
              <a:t>Bônus: </a:t>
            </a:r>
            <a:r>
              <a:rPr sz="1200" b="1" i="0">
                <a:solidFill>
                  <a:srgbClr val="CE9178"/>
                </a:solidFill>
                <a:latin typeface="Cascadia Mono"/>
              </a:rPr>
              <a:t>http://127.0.0.1:8000/redoc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 mostra a mesma documentação em outro formato, só de leitura.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933773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QUANDO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Erros no 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O termo 'uv' não é reconhecido…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feche o VS Code inteiro e abra de novo. Persistindo, reinstale o uv.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…Activate.ps1 não pode ser carregado…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rode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Set-ExecutionPolicy -Scope CurrentUser RemoteSigned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responda 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O termo 'fastapi' não é reconhecido…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falta o (api-login) na linha: ative o venv, ou rode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uv run fastapi dev main.py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Path does not exist main.py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você está fora da pasta. Rode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cd api-login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tente de novo.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958346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QUANDO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Erros ao testar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O navegador não abre /docs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o terminal do fastapi dev foi fechado ou o Ctrl+C desligou o servidor. Suba de novo.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{"detail":"Not Found"}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em 127.0.0.1:8000 — é normal: a raiz / não é rota nossa. Acrescente /docs.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422 com a senha certa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o JSON está mal escrito: aspas simples, vírgula faltando entre os campos ou sobrando no último.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8F0"/>
                </a:solidFill>
                <a:latin typeface="Segoe UI"/>
              </a:rPr>
              <a:t>Salvei o main.py e nada mudou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aperte F5 na página do /docs: o Swagger não recarrega sozinho.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982919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QUANDO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Erros no main.py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200 com </a:t>
            </a:r>
            <a:r>
              <a:rPr sz="1600" b="1" i="0">
                <a:solidFill>
                  <a:srgbClr val="F07178"/>
                </a:solidFill>
                <a:latin typeface="Cascadia Mono"/>
              </a:rPr>
              <a:t>null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para qualquer senha — um trecho foi digitado duas vezes (dois def login). Compare com o slide 30.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IndentationError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terminal — espaços errados no começo da linha. O terminal diz o número da linha.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07178"/>
                </a:solidFill>
                <a:latin typeface="Cascadia Mono"/>
              </a:rPr>
              <a:t>SyntaxError: expected ':'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faltou os dois-pontos no fim do </a:t>
            </a:r>
            <a:r>
              <a:rPr sz="1600" b="1" i="0">
                <a:solidFill>
                  <a:srgbClr val="C586C0"/>
                </a:solidFill>
                <a:latin typeface="Cascadia Mono"/>
              </a:rPr>
              <a:t>class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do </a:t>
            </a:r>
            <a:r>
              <a:rPr sz="1600" b="1" i="0">
                <a:solidFill>
                  <a:srgbClr val="C586C0"/>
                </a:solidFill>
                <a:latin typeface="Cascadia Mono"/>
              </a:rPr>
              <a:t>def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ou do </a:t>
            </a:r>
            <a:r>
              <a:rPr sz="1600" b="1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500 e </a:t>
            </a:r>
            <a:r>
              <a:rPr sz="1600" b="1" i="0">
                <a:solidFill>
                  <a:srgbClr val="F07178"/>
                </a:solidFill>
                <a:latin typeface="Cascadia Mono"/>
              </a:rPr>
              <a:t>NameError: name 'HTTPException' is not defined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faltou ele no import da primeira linha.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007492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990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NO DIA SEGUINTE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Voltando ao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11057839" cy="2315972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47088"/>
            <a:ext cx="1105783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1105783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8881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8881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8881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29384"/>
            <a:ext cx="9960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Terminal  ·  PowerShell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231136"/>
            <a:ext cx="420624" cy="1904492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231136"/>
            <a:ext cx="10972" cy="190449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365760" cy="16941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68880"/>
            <a:ext cx="10051999" cy="1456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# no dia seguinte: abrir a pasta, ativar e subir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cd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api-login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.venv\Scripts\activate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A0"/>
                </a:solidFill>
                <a:latin typeface="Cascadia Mono"/>
              </a:rPr>
              <a:t>(api-login)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fastapi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dev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main.py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# projeto baixado do GitHub, sem a pasta .venv: o uv recria tudo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PS C:\projetos\api-login&gt; </a:t>
            </a:r>
            <a:r>
              <a:rPr sz="1200" b="0" i="0">
                <a:solidFill>
                  <a:srgbClr val="DCDCAA"/>
                </a:solidFill>
                <a:latin typeface="Cascadia Mono"/>
              </a:rPr>
              <a:t>uv</a:t>
            </a:r>
            <a:r>
              <a:rPr sz="12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200" b="0" i="0">
                <a:solidFill>
                  <a:srgbClr val="9CDCFE"/>
                </a:solidFill>
                <a:latin typeface="Cascadia Mono"/>
              </a:rPr>
              <a:t>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19092"/>
            <a:ext cx="6531559" cy="178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Instalar o uv, </a:t>
            </a:r>
            <a:r>
              <a:rPr sz="1400" b="1" i="0">
                <a:solidFill>
                  <a:srgbClr val="DCDCAA"/>
                </a:solidFill>
                <a:latin typeface="Cascadia Mono"/>
              </a:rPr>
              <a:t>uv init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, </a:t>
            </a:r>
            <a:r>
              <a:rPr sz="1400" b="1" i="0">
                <a:solidFill>
                  <a:srgbClr val="DCDCAA"/>
                </a:solidFill>
                <a:latin typeface="Cascadia Mono"/>
              </a:rPr>
              <a:t>uv venv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e </a:t>
            </a:r>
            <a:r>
              <a:rPr sz="1400" b="1" i="0">
                <a:solidFill>
                  <a:srgbClr val="DCDCAA"/>
                </a:solidFill>
                <a:latin typeface="Cascadia Mono"/>
              </a:rPr>
              <a:t>uv add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foram uma vez só. Do segundo dia em diante são três comandos: entrar, ativar e subir.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9A9AB0"/>
                </a:solidFill>
                <a:latin typeface="Segoe UI"/>
              </a:rPr>
              <a:t>Clonou o projeto em outro computador? A .venv não veio junto — </a:t>
            </a:r>
            <a:r>
              <a:rPr sz="1400" b="1" i="0">
                <a:solidFill>
                  <a:srgbClr val="DCDCAA"/>
                </a:solidFill>
                <a:latin typeface="Cascadia Mono"/>
              </a:rPr>
              <a:t>uv sync</a:t>
            </a:r>
            <a:r>
              <a:rPr sz="1400" b="0" i="0">
                <a:solidFill>
                  <a:srgbClr val="9A9AB0"/>
                </a:solidFill>
                <a:latin typeface="Segoe UI"/>
              </a:rPr>
              <a:t> lê o uv.lock e recria o ambiente idêntico.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527" y="4419092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18527" y="4419092"/>
            <a:ext cx="45720" cy="14173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56271" y="4528820"/>
            <a:ext cx="3803903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Porta 8000 ocupada por outro servidor esquecido? Ctrl+C no terminal dele, ou suba em outra: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fastapi dev main.py --port 8001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1032064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RECAPITULANDO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Do zero à API, em quatro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Projeto e ambiente: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uv init api-login --python 3.12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uv venv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Ativar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.venv\Scripts\activate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adicionar 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uv add "fastapi[standard]==0.141.1"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 main.py: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app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DadosLogin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a rota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@app.post("/login")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Subir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fastapi dev main.py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testar 200, 401 e 422 em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/docs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056637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QUE AINDA FALTA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Um primeiro passo, não o fim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senha saiu do navegador — mas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ainda mora no código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 e-mail e a senha fixos no main.py são um exercício. Num sistema de verdade os usuários ficam num banco de dados, e a senha é guardada embaralhada (hash), nunca como texto.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API também ainda não entrega nada que prove o login para os próximos pedidos. Isso é o token, que vai substituir o "true" do localStorage.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E o React ainda confere a senha sozinho: a próxima peça é o Login.jsx perguntando para esta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Hoje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A0"/>
                </a:solidFill>
                <a:latin typeface="Cascadia Mono"/>
              </a:rPr>
              <a:t>POST 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Próximo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o React chama a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Depois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banco +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081210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7416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teu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Refazer a API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do zero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em casa, numa pasta nova, seguindo só os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Trocar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title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da app pelo teu nome e conferir que ele aparece no Swagger.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Testar no /docs os três casos — </a:t>
            </a:r>
            <a:r>
              <a:rPr sz="1600" b="1" i="0">
                <a:solidFill>
                  <a:srgbClr val="4EC9A0"/>
                </a:solidFill>
                <a:latin typeface="Cascadia Mono"/>
              </a:rPr>
              <a:t>200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</a:t>
            </a:r>
            <a:r>
              <a:rPr sz="1600" b="1" i="0">
                <a:solidFill>
                  <a:srgbClr val="F07178"/>
                </a:solidFill>
                <a:latin typeface="Cascadia Mono"/>
              </a:rPr>
              <a:t>401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D7BA7D"/>
                </a:solidFill>
                <a:latin typeface="Cascadia Mono"/>
              </a:rPr>
              <a:t>422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e tirar um print de cada.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26224A"/>
          </a:solidFill>
          <a:ln w="12700">
            <a:solidFill>
              <a:srgbClr val="7C6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Entregar os três prints e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main.py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 Sem a pasta .venv!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06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