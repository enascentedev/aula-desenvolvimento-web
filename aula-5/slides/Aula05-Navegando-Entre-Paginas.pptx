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172199" y="594359"/>
            <a:ext cx="5852160" cy="5852160"/>
          </a:xfrm>
          <a:prstGeom prst="ellipse">
            <a:avLst/>
          </a:prstGeom>
          <a:solidFill>
            <a:srgbClr val="1D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6995159" y="2734056"/>
            <a:ext cx="4206240" cy="1572768"/>
          </a:xfrm>
          <a:prstGeom prst="ellipse">
            <a:avLst/>
          </a:prstGeom>
          <a:noFill/>
          <a:ln w="28575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 rot="3600000">
            <a:off x="6995159" y="2734056"/>
            <a:ext cx="4206240" cy="1572768"/>
          </a:xfrm>
          <a:prstGeom prst="ellipse">
            <a:avLst/>
          </a:prstGeom>
          <a:noFill/>
          <a:ln w="28575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 rot="7200000">
            <a:off x="6995159" y="2734056"/>
            <a:ext cx="4206240" cy="1572768"/>
          </a:xfrm>
          <a:prstGeom prst="ellipse">
            <a:avLst/>
          </a:prstGeom>
          <a:noFill/>
          <a:ln w="28575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860536" y="3282696"/>
            <a:ext cx="475488" cy="475488"/>
          </a:xfrm>
          <a:prstGeom prst="ellipse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566928"/>
            <a:ext cx="969264" cy="96926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logo-escola-tecnica-mesqu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621792"/>
            <a:ext cx="859536" cy="859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1755648"/>
            <a:ext cx="2448763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755648"/>
            <a:ext cx="244876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PROGRAMAÇÃO WEB 2  ·  AULA 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249424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E8E8F0"/>
                </a:solidFill>
                <a:latin typeface="Bahnschrift SemiBold Condensed"/>
              </a:rPr>
              <a:t>Navegando entre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7C6CF5"/>
                </a:solidFill>
                <a:latin typeface="Bahnschrift SemiBold Condensed"/>
              </a:rPr>
              <a:t>páginas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39158"/>
            <a:ext cx="384048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4224528"/>
            <a:ext cx="146304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66928" y="449884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A9AB0"/>
                </a:solidFill>
                <a:latin typeface="Segoe UI"/>
              </a:rPr>
              <a:t>Hoje o nosso login vai levar a algum lugar…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974336"/>
            <a:ext cx="6766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Segoe UI"/>
              </a:rPr>
              <a:t>Emanuel Nascente  ·  Escola Técnica Mesquita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25312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4E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6928" y="5925312"/>
            <a:ext cx="129844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EC9A0"/>
                </a:solidFill>
                <a:latin typeface="Cascadia Mono"/>
              </a:rPr>
              <a:t>REACT :D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711696"/>
            <a:ext cx="789845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1998878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199887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NAVEGANDO ENTRE PÁGINAS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E8F0"/>
                </a:solidFill>
                <a:latin typeface="Bahnschrift SemiBold Condensed"/>
              </a:rPr>
              <a:t>Preparando o terreno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1883664"/>
            <a:ext cx="3478682" cy="4114800"/>
          </a:xfrm>
          <a:prstGeom prst="roundRect">
            <a:avLst>
              <a:gd name="adj" fmla="val 28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1883664"/>
            <a:ext cx="3478682" cy="41148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2194560"/>
            <a:ext cx="2856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B3470"/>
                </a:solidFill>
                <a:latin typeface="Cascadia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33472"/>
            <a:ext cx="285689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8E8F0"/>
                </a:solidFill>
                <a:latin typeface="Bahnschrift SemiBold Condensed"/>
              </a:rPr>
              <a:t>Instalando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054096"/>
            <a:ext cx="285689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AB0"/>
                </a:solidFill>
                <a:latin typeface="Segoe UI"/>
              </a:rPr>
              <a:t>Na aula passada montamos a tela de login. Vamos continuar naquele mesmo projeto: abra a pasta dele no terminal e instale a biblioteca de rotas do React.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4581144"/>
            <a:ext cx="3039770" cy="466344"/>
          </a:xfrm>
          <a:prstGeom prst="roundRect">
            <a:avLst>
              <a:gd name="adj" fmla="val 6000"/>
            </a:avLst>
          </a:prstGeom>
          <a:solidFill>
            <a:srgbClr val="121219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4690872"/>
            <a:ext cx="2838602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C6CF5"/>
                </a:solidFill>
                <a:latin typeface="Cascadia Mono"/>
              </a:rPr>
              <a:t>$ </a:t>
            </a:r>
            <a:r>
              <a:rPr sz="1000" b="0" i="0">
                <a:solidFill>
                  <a:srgbClr val="4EC9A0"/>
                </a:solidFill>
                <a:latin typeface="Cascadia Mono"/>
              </a:rPr>
              <a:t>npm install react-router-dom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193792"/>
            <a:ext cx="28568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A80"/>
                </a:solidFill>
                <a:latin typeface="Segoe UI"/>
              </a:rPr>
              <a:t>Depois de instalar, rode npm run dev de novo.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6506" y="1883664"/>
            <a:ext cx="3478682" cy="4114800"/>
          </a:xfrm>
          <a:prstGeom prst="roundRect">
            <a:avLst>
              <a:gd name="adj" fmla="val 28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56506" y="1883664"/>
            <a:ext cx="3478682" cy="41148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67402" y="2194560"/>
            <a:ext cx="2856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B3470"/>
                </a:solidFill>
                <a:latin typeface="Cascadia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402" y="2633472"/>
            <a:ext cx="285689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8E8F0"/>
                </a:solidFill>
                <a:latin typeface="Bahnschrift SemiBold Condensed"/>
              </a:rPr>
              <a:t>Criando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7402" y="3054096"/>
            <a:ext cx="285689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AB0"/>
                </a:solidFill>
                <a:latin typeface="Segoe UI"/>
              </a:rPr>
              <a:t>Se o login vai levar para algum lugar, esse lugar precisa existir. Vamos criar dois arquivos novos dentro da pasta src: a nossa segunda página e o estilo dela.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5962" y="4581144"/>
            <a:ext cx="3039770" cy="676656"/>
          </a:xfrm>
          <a:prstGeom prst="roundRect">
            <a:avLst>
              <a:gd name="adj" fmla="val 6000"/>
            </a:avLst>
          </a:prstGeom>
          <a:solidFill>
            <a:srgbClr val="121219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703978" y="4690872"/>
            <a:ext cx="28386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C6CF5"/>
                </a:solidFill>
                <a:latin typeface="Cascadia Mono"/>
              </a:rPr>
              <a:t>$ </a:t>
            </a:r>
            <a:r>
              <a:rPr sz="1000" b="0" i="0">
                <a:solidFill>
                  <a:srgbClr val="4EC9A0"/>
                </a:solidFill>
                <a:latin typeface="Cascadia Mono"/>
              </a:rPr>
              <a:t>Home.jsx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C6CF5"/>
                </a:solidFill>
                <a:latin typeface="Cascadia Mono"/>
              </a:rPr>
              <a:t>$ </a:t>
            </a:r>
            <a:r>
              <a:rPr sz="1000" b="0" i="0">
                <a:solidFill>
                  <a:srgbClr val="4EC9A0"/>
                </a:solidFill>
                <a:latin typeface="Cascadia Mono"/>
              </a:rPr>
              <a:t>Home.css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6084" y="1883664"/>
            <a:ext cx="3478682" cy="4114800"/>
          </a:xfrm>
          <a:prstGeom prst="roundRect">
            <a:avLst>
              <a:gd name="adj" fmla="val 28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146084" y="1883664"/>
            <a:ext cx="3478682" cy="41148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56980" y="2194560"/>
            <a:ext cx="2856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3B3470"/>
                </a:solidFill>
                <a:latin typeface="Cascadia Mono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6980" y="2633472"/>
            <a:ext cx="285689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8E8F0"/>
                </a:solidFill>
                <a:latin typeface="Bahnschrift SemiBold Condensed"/>
              </a:rPr>
              <a:t>Ligando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6980" y="3054096"/>
            <a:ext cx="285689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AB0"/>
                </a:solidFill>
                <a:latin typeface="Segoe UI"/>
              </a:rPr>
              <a:t>E vamos mexer em dois arquivos que já existem: o main.jsx, para ligar o sistema de rotas, e o App.jsx, que vira o mapa das telas da aplicação.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65540" y="4581144"/>
            <a:ext cx="3039770" cy="676656"/>
          </a:xfrm>
          <a:prstGeom prst="roundRect">
            <a:avLst>
              <a:gd name="adj" fmla="val 6000"/>
            </a:avLst>
          </a:prstGeom>
          <a:solidFill>
            <a:srgbClr val="121219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493556" y="4690872"/>
            <a:ext cx="28386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C6CF5"/>
                </a:solidFill>
                <a:latin typeface="Cascadia Mono"/>
              </a:rPr>
              <a:t>$ </a:t>
            </a:r>
            <a:r>
              <a:rPr sz="1000" b="0" i="0">
                <a:solidFill>
                  <a:srgbClr val="4EC9A0"/>
                </a:solidFill>
                <a:latin typeface="Cascadia Mono"/>
              </a:rPr>
              <a:t>main.jsx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C6CF5"/>
                </a:solidFill>
                <a:latin typeface="Cascadia Mono"/>
              </a:rPr>
              <a:t>$ </a:t>
            </a:r>
            <a:r>
              <a:rPr sz="1000" b="0" i="0">
                <a:solidFill>
                  <a:srgbClr val="4EC9A0"/>
                </a:solidFill>
                <a:latin typeface="Cascadia Mono"/>
              </a:rPr>
              <a:t>App.jsx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02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66928" y="6711696"/>
            <a:ext cx="1579691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1174089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117408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REACT 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E8F0"/>
                </a:solidFill>
                <a:latin typeface="Bahnschrift SemiBold Condensed"/>
              </a:rPr>
              <a:t>Uma página só, várias telas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2057400"/>
            <a:ext cx="5532120" cy="1097280"/>
          </a:xfrm>
          <a:prstGeom prst="roundRect">
            <a:avLst>
              <a:gd name="adj" fmla="val 5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2057400"/>
            <a:ext cx="50292" cy="109728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2057400"/>
            <a:ext cx="4892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9A9AB0"/>
                </a:solidFill>
                <a:latin typeface="Segoe UI"/>
              </a:rPr>
              <a:t>A página </a:t>
            </a:r>
            <a:r>
              <a:rPr sz="1900" b="1" i="0">
                <a:solidFill>
                  <a:srgbClr val="E8E8F0"/>
                </a:solidFill>
                <a:latin typeface="Segoe UI"/>
              </a:rPr>
              <a:t>nunca recarrega</a:t>
            </a:r>
            <a:r>
              <a:rPr sz="1900" b="0" i="0">
                <a:solidFill>
                  <a:srgbClr val="9A9AB0"/>
                </a:solidFill>
                <a:latin typeface="Segoe UI"/>
              </a:rPr>
              <a:t> — o React troca o que aparece na tela.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20440"/>
            <a:ext cx="553212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AB0"/>
                </a:solidFill>
                <a:latin typeface="Segoe UI"/>
              </a:rPr>
              <a:t>Uma aplicação React é uma SPA (Single Page Application): existe um único index.html, e é o React que decide qual componente desenhar dentro dele.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9A9AB0"/>
                </a:solidFill>
                <a:latin typeface="Segoe UI"/>
              </a:rPr>
              <a:t>O React Router é quem faz essa decisão olhar para a barra de endereços. Cada endereço vira uma tela, e mudar de tela não custa um F5: nada pisca, nada é baixado de novo.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840480"/>
          </a:xfrm>
          <a:prstGeom prst="roundRect">
            <a:avLst>
              <a:gd name="adj" fmla="val 3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60920" y="2423160"/>
            <a:ext cx="3794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9A9AB0"/>
                </a:solidFill>
                <a:latin typeface="Segoe UI"/>
              </a:rPr>
              <a:t>URL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25496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E9178"/>
                </a:solidFill>
                <a:latin typeface="Cascadia Mono"/>
              </a:rPr>
              <a:t>/home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227832"/>
            <a:ext cx="37947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C6CF5"/>
                </a:solidFill>
                <a:latin typeface="Cascadia Mono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630168"/>
            <a:ext cx="3794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9A9AB0"/>
                </a:solidFill>
                <a:latin typeface="Segoe UI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032504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EC9F0"/>
                </a:solidFill>
                <a:latin typeface="Cascadia Mono"/>
              </a:rPr>
              <a:t>path="/home"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434840"/>
            <a:ext cx="37947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C6CF5"/>
                </a:solidFill>
                <a:latin typeface="Cascadia Mono"/>
              </a:rPr>
              <a:t>=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4727448"/>
            <a:ext cx="3794760" cy="914400"/>
          </a:xfrm>
          <a:prstGeom prst="roundRect">
            <a:avLst>
              <a:gd name="adj" fmla="val 10000"/>
            </a:avLst>
          </a:prstGeom>
          <a:solidFill>
            <a:srgbClr val="26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60920" y="4837176"/>
            <a:ext cx="3794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8E8F0"/>
                </a:solidFill>
                <a:latin typeface="Segoe UI"/>
              </a:rPr>
              <a:t>Componente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5239512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C6CF5"/>
                </a:solidFill>
                <a:latin typeface="Cascadia Mono"/>
              </a:rPr>
              <a:t>&lt;Home /&gt;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03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66928" y="6711696"/>
            <a:ext cx="2369536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2448763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244876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LIGANDO O ROUTER  ·  MAIN.JSX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5989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import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2538730"/>
            <a:ext cx="5989320" cy="2548636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 Same Side Corner Rectangle 8"/>
          <p:cNvSpPr/>
          <p:nvPr/>
        </p:nvSpPr>
        <p:spPr>
          <a:xfrm>
            <a:off x="566928" y="2538730"/>
            <a:ext cx="5989320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2904490"/>
            <a:ext cx="5989320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68096" y="2680462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9264" y="2680462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70432" y="2680462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35607" y="2621026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main.jsx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601974"/>
            <a:ext cx="5477256" cy="323596"/>
          </a:xfrm>
          <a:prstGeom prst="rect">
            <a:avLst/>
          </a:prstGeom>
          <a:solidFill>
            <a:srgbClr val="26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05840" y="3601974"/>
            <a:ext cx="32004" cy="32359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2922778"/>
            <a:ext cx="420624" cy="2137156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005840" y="2922778"/>
            <a:ext cx="10972" cy="213715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3160522"/>
            <a:ext cx="365760" cy="1926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60522"/>
            <a:ext cx="4983480" cy="168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React from "react";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ReactDOM from "react-dom/client";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86C0"/>
                </a:solidFill>
                <a:latin typeface="Cascadia Mono"/>
              </a:rPr>
              <a:t>import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{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DCDCAA"/>
                </a:solidFill>
                <a:latin typeface="Cascadia Mono"/>
              </a:rPr>
              <a:t>BrowserRouter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}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586C0"/>
                </a:solidFill>
                <a:latin typeface="Cascadia Mono"/>
              </a:rPr>
              <a:t>from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"react-router-dom"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App from "./App";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"./index.css";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627632"/>
            <a:ext cx="41148" cy="4370832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14616" y="1700784"/>
            <a:ext cx="4410151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Tudo começa importando o que acabamos de instalar. Repare que o nome entre chaves é BrowserRouter, mas o pacote se chama react-router-dom.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Por que </a:t>
            </a:r>
            <a:r>
              <a:rPr sz="1450" b="1" i="0">
                <a:solidFill>
                  <a:srgbClr val="E8E8F0"/>
                </a:solidFill>
                <a:latin typeface="Segoe UI"/>
              </a:rPr>
              <a:t>Browser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Router? Porque ele usa o recurso de histórico do navegador — o mesmo que faz as setas de voltar e avançar funcionarem.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É por isso que, depois de logar, o botão de voltar do navegador leva de volta para o login. Não precisamos programar nada para isso.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04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66928" y="6711696"/>
            <a:ext cx="3159382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2448763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244876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LIGANDO O ROUTER  ·  MAIN.JSX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5989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BrowserRouter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2056130"/>
            <a:ext cx="5989320" cy="3513836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 Same Side Corner Rectangle 8"/>
          <p:cNvSpPr/>
          <p:nvPr/>
        </p:nvSpPr>
        <p:spPr>
          <a:xfrm>
            <a:off x="566928" y="2056130"/>
            <a:ext cx="5989320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2421890"/>
            <a:ext cx="5989320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68096" y="2197862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9264" y="2197862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70432" y="2197862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35607" y="2138426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main.jsx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4084574"/>
            <a:ext cx="5477256" cy="806196"/>
          </a:xfrm>
          <a:prstGeom prst="rect">
            <a:avLst/>
          </a:prstGeom>
          <a:solidFill>
            <a:srgbClr val="26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05840" y="4084574"/>
            <a:ext cx="32004" cy="80619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2440178"/>
            <a:ext cx="420624" cy="3102356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005840" y="2440178"/>
            <a:ext cx="10972" cy="310235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2677922"/>
            <a:ext cx="365760" cy="28920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7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8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9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10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677922"/>
            <a:ext cx="4983480" cy="265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...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ReactDOM.createRoot(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document.getElementById("root")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).render(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&lt;React.StrictMode&gt;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&lt;BrowserRouter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&lt;App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&lt;/BrowserRouter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&lt;/React.StrictMode&gt;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);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627632"/>
            <a:ext cx="41148" cy="4370832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14616" y="1700784"/>
            <a:ext cx="4410151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O BrowserRouter é um componente que ABRAÇA a aplicação inteira. Ele não desenha nada na tela: só fica de olho na barra de endereços.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Regra de ouro: tudo que usa rota precisa estar </a:t>
            </a:r>
            <a:r>
              <a:rPr sz="1450" b="1" i="0">
                <a:solidFill>
                  <a:srgbClr val="E8E8F0"/>
                </a:solidFill>
                <a:latin typeface="Segoe UI"/>
              </a:rPr>
              <a:t>dentro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 do BrowserRouter. Por isso ele vem aqui no main.jsx, envolvendo o </a:t>
            </a:r>
            <a:r>
              <a:rPr sz="1450" b="1" i="0">
                <a:solidFill>
                  <a:srgbClr val="4EC9F0"/>
                </a:solidFill>
                <a:latin typeface="Cascadia Mono"/>
              </a:rPr>
              <a:t>&lt;App /&gt;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Esquecer esse abraço é o erro mais comum da aula: o React acusa que os componentes de rota estão fora de um Router.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05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66928" y="6711696"/>
            <a:ext cx="3949228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2598724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25987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O MAPA DA APLICAÇÃO  ·  APP.JSX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5989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Routes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1694180"/>
            <a:ext cx="5989320" cy="4237736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 Same Side Corner Rectangle 8"/>
          <p:cNvSpPr/>
          <p:nvPr/>
        </p:nvSpPr>
        <p:spPr>
          <a:xfrm>
            <a:off x="566928" y="1694180"/>
            <a:ext cx="5989320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2059940"/>
            <a:ext cx="5989320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68096" y="1835912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9264" y="1835912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70432" y="1835912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35607" y="1776476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App.jsx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722624"/>
            <a:ext cx="5477256" cy="1047496"/>
          </a:xfrm>
          <a:prstGeom prst="rect">
            <a:avLst/>
          </a:prstGeom>
          <a:solidFill>
            <a:srgbClr val="26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05840" y="3722624"/>
            <a:ext cx="32004" cy="104749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2078228"/>
            <a:ext cx="420624" cy="3826255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005840" y="2078228"/>
            <a:ext cx="10972" cy="3826255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2315972"/>
            <a:ext cx="365760" cy="3615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7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8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9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10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315972"/>
            <a:ext cx="4983480" cy="337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{ Routes, Route } from "react-router-dom";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Login from "./Login";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Home from "./Home";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function App() {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return (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&lt;Routes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&lt;Route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path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"/"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element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{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&lt;Login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}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&lt;Route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path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"/home"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element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{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&lt;Home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}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&lt;/Routes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);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}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export default App;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627632"/>
            <a:ext cx="41148" cy="4370832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14616" y="1700784"/>
            <a:ext cx="4410151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Na aula passada o App.jsx só chamava o &lt;Login /&gt;. Agora ele vira o mapa da nossa aplicação.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O </a:t>
            </a:r>
            <a:r>
              <a:rPr sz="1450" b="1" i="0">
                <a:solidFill>
                  <a:srgbClr val="4EC9F0"/>
                </a:solidFill>
                <a:latin typeface="Cascadia Mono"/>
              </a:rPr>
              <a:t>&lt;Routes&gt;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 é a caixa que guarda todas as telas possíveis. Ele olha a URL atual, escolhe UMA das rotas de dentro dele e desenha só ela.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Uma de cada vez — nunca duas ao mesmo tempo.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06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66928" y="6711696"/>
            <a:ext cx="4739073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2598724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25987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O MAPA DA APLICAÇÃO  ·  APP.JSX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5989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Route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1694180"/>
            <a:ext cx="5989320" cy="4237736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 Same Side Corner Rectangle 8"/>
          <p:cNvSpPr/>
          <p:nvPr/>
        </p:nvSpPr>
        <p:spPr>
          <a:xfrm>
            <a:off x="566928" y="1694180"/>
            <a:ext cx="5989320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2059940"/>
            <a:ext cx="5989320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68096" y="1835912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9264" y="1835912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70432" y="1835912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35607" y="1776476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App.jsx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963924"/>
            <a:ext cx="5477256" cy="564896"/>
          </a:xfrm>
          <a:prstGeom prst="rect">
            <a:avLst/>
          </a:prstGeom>
          <a:solidFill>
            <a:srgbClr val="26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05840" y="3963924"/>
            <a:ext cx="32004" cy="56489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2078228"/>
            <a:ext cx="420624" cy="3826255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005840" y="2078228"/>
            <a:ext cx="10972" cy="3826255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2315972"/>
            <a:ext cx="365760" cy="3615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7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8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9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10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315972"/>
            <a:ext cx="4983480" cy="337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{ Routes, Route } from "react-router-dom";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Login from "./Login";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Home from "./Home";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function App() {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return (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&lt;Routes&gt;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&lt;Route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path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"/"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element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{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&lt;Login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}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&lt;Route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path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"/home"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element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{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&lt;Home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}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/&gt;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&lt;/Routes&gt;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);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}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export default App;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627632"/>
            <a:ext cx="41148" cy="4370832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14616" y="1700784"/>
            <a:ext cx="4410151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Cada Route é uma linha do mapa, e ela sempre tem duas partes.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1" i="0">
                <a:solidFill>
                  <a:srgbClr val="9CDCFE"/>
                </a:solidFill>
                <a:latin typeface="Cascadia Mono"/>
              </a:rPr>
              <a:t>path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 é o endereço que aparece na barra do navegador. </a:t>
            </a:r>
            <a:r>
              <a:rPr sz="1450" b="1" i="0">
                <a:solidFill>
                  <a:srgbClr val="9CDCFE"/>
                </a:solidFill>
                <a:latin typeface="Cascadia Mono"/>
              </a:rPr>
              <a:t>element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 é o componente que deve aparecer quando a URL for aquela.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O path "/" é a raiz: é o que abre quando você entra no site sem digitar mais nada. Por isso o login mora nele.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14616" y="5102352"/>
            <a:ext cx="4410151" cy="896112"/>
          </a:xfrm>
          <a:prstGeom prst="roundRect">
            <a:avLst>
              <a:gd name="adj" fmla="val 5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34071" y="5257800"/>
            <a:ext cx="397123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9AB0"/>
                </a:solidFill>
                <a:latin typeface="Segoe UI"/>
              </a:rPr>
              <a:t>Repare na barra: </a:t>
            </a:r>
            <a:r>
              <a:rPr sz="1250" b="1" i="0">
                <a:solidFill>
                  <a:srgbClr val="CE9178"/>
                </a:solidFill>
                <a:latin typeface="Cascadia Mono"/>
              </a:rPr>
              <a:t>"/home"</a:t>
            </a:r>
            <a:r>
              <a:rPr sz="1250" b="0" i="0">
                <a:solidFill>
                  <a:srgbClr val="9A9AB0"/>
                </a:solidFill>
                <a:latin typeface="Segoe UI"/>
              </a:rPr>
              <a:t> e não </a:t>
            </a:r>
            <a:r>
              <a:rPr sz="1250" b="1" i="0">
                <a:solidFill>
                  <a:srgbClr val="CE9178"/>
                </a:solidFill>
                <a:latin typeface="Cascadia Mono"/>
              </a:rPr>
              <a:t>"home"</a:t>
            </a:r>
            <a:r>
              <a:rPr sz="1250" b="0" i="0">
                <a:solidFill>
                  <a:srgbClr val="9A9AB0"/>
                </a:solidFill>
                <a:latin typeface="Segoe UI"/>
              </a:rPr>
              <a:t>. Sem a barra vira caminho relativo.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07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66928" y="6711696"/>
            <a:ext cx="5528919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2448763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244876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SAINDO DO LOGIN  ·  LOGIN.JSX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5989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useNavigate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1814830"/>
            <a:ext cx="5989320" cy="3996436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 Same Side Corner Rectangle 8"/>
          <p:cNvSpPr/>
          <p:nvPr/>
        </p:nvSpPr>
        <p:spPr>
          <a:xfrm>
            <a:off x="566928" y="1814830"/>
            <a:ext cx="5989320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2180590"/>
            <a:ext cx="5989320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68096" y="1956562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9264" y="1956562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70432" y="1956562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35607" y="1897126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Login.jsx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4567174"/>
            <a:ext cx="5477256" cy="564896"/>
          </a:xfrm>
          <a:prstGeom prst="rect">
            <a:avLst/>
          </a:prstGeom>
          <a:solidFill>
            <a:srgbClr val="26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05840" y="4567174"/>
            <a:ext cx="32004" cy="56489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2198878"/>
            <a:ext cx="420624" cy="3584956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005840" y="2198878"/>
            <a:ext cx="10972" cy="358495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2436622"/>
            <a:ext cx="365760" cy="33746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7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8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9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10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11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436622"/>
            <a:ext cx="4983480" cy="313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{ useState } from "react";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{ useNavigate } from "react-router-dom";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"./Login.css";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function Login() {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const [email, setEmail] = useState("");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const [senha, setSenha] = useState("");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const [erro, setErro] = useState("");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</a:t>
            </a:r>
            <a:r>
              <a:rPr sz="1300" b="0" i="0">
                <a:solidFill>
                  <a:srgbClr val="6A6A80"/>
                </a:solidFill>
                <a:latin typeface="Cascadia Mono"/>
              </a:rPr>
              <a:t>// o navigate troca de pagina pelo codigo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</a:t>
            </a:r>
            <a:r>
              <a:rPr sz="1300" b="0" i="0">
                <a:solidFill>
                  <a:srgbClr val="C586C0"/>
                </a:solidFill>
                <a:latin typeface="Cascadia Mono"/>
              </a:rPr>
              <a:t>const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DCDCAA"/>
                </a:solidFill>
                <a:latin typeface="Cascadia Mono"/>
              </a:rPr>
              <a:t>navigate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DCDCAA"/>
                </a:solidFill>
                <a:latin typeface="Cascadia Mono"/>
              </a:rPr>
              <a:t>useNavigate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(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)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627632"/>
            <a:ext cx="41148" cy="4370832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14616" y="1700784"/>
            <a:ext cx="4410151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O Login.jsx continua igualzinho ao da aula passada: os mesmos useState, o mesmo handleSubmit, o mesmo botão de mostrar senha.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A única novidade é o </a:t>
            </a:r>
            <a:r>
              <a:rPr sz="1450" b="1" i="0">
                <a:solidFill>
                  <a:srgbClr val="DCDCAA"/>
                </a:solidFill>
                <a:latin typeface="Cascadia Mono"/>
              </a:rPr>
              <a:t>useNavigate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. Ele é um Hook, assim como o useState — e como todo Hook, precisa ser chamado no topo do componente, nunca dentro de um if.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Ele não navega sozinho: devolve uma função (a que chamamos de navigate) que usamos quando quisermos trocar de página.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08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66928" y="6711696"/>
            <a:ext cx="6318765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2448763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244876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SAINDO DO LOGIN  ·  LOGIN.JSX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5989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navigate("/home")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1935479"/>
            <a:ext cx="5989320" cy="3755136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 Same Side Corner Rectangle 8"/>
          <p:cNvSpPr/>
          <p:nvPr/>
        </p:nvSpPr>
        <p:spPr>
          <a:xfrm>
            <a:off x="566928" y="1935479"/>
            <a:ext cx="5989320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2301239"/>
            <a:ext cx="5989320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68096" y="2077211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9264" y="2077211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70432" y="2077211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35607" y="2017775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Login.jsx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722623"/>
            <a:ext cx="5477256" cy="323596"/>
          </a:xfrm>
          <a:prstGeom prst="rect">
            <a:avLst/>
          </a:prstGeom>
          <a:solidFill>
            <a:srgbClr val="26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05840" y="3722623"/>
            <a:ext cx="32004" cy="32359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2319527"/>
            <a:ext cx="420624" cy="3343656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005840" y="2319527"/>
            <a:ext cx="10972" cy="334365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2557271"/>
            <a:ext cx="365760" cy="3133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6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7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8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9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10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557271"/>
            <a:ext cx="4983480" cy="289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...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if (email === "user@email.com" &amp;&amp;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    senha === "123456") {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  setErro("");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</a:t>
            </a:r>
            <a:r>
              <a:rPr sz="1300" b="0" i="0">
                <a:solidFill>
                  <a:srgbClr val="DCDCAA"/>
                </a:solidFill>
                <a:latin typeface="Cascadia Mono"/>
              </a:rPr>
              <a:t>navigate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(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"/home"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)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} else {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  setErro("E-mail ou senha incorretos.");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}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}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627632"/>
            <a:ext cx="41148" cy="4370832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14616" y="1700784"/>
            <a:ext cx="4410151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Lembra desse if da aula passada? Ele é exatamente o mesmo. Só a linha do sucesso mudou.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Onde estava </a:t>
            </a:r>
            <a:r>
              <a:rPr sz="1450" b="1" i="0">
                <a:solidFill>
                  <a:srgbClr val="DCDCAA"/>
                </a:solidFill>
                <a:latin typeface="Cascadia Mono"/>
              </a:rPr>
              <a:t>alert("Login realizado…")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 agora está o navigate. Em vez de uma caixinha do navegador, o usuário vai para outra tela.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O texto dentro do navigate é o mesmo path que escrevemos no Route lá no App.jsx. Se os dois não baterem, nada acontece.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14616" y="5102352"/>
            <a:ext cx="4410151" cy="896112"/>
          </a:xfrm>
          <a:prstGeom prst="roundRect">
            <a:avLst>
              <a:gd name="adj" fmla="val 5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34071" y="5257800"/>
            <a:ext cx="397123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CDCAA"/>
                </a:solidFill>
                <a:latin typeface="Cascadia Mono"/>
              </a:rPr>
              <a:t>navigate</a:t>
            </a:r>
            <a:r>
              <a:rPr sz="1250" b="0" i="0">
                <a:solidFill>
                  <a:srgbClr val="9A9AB0"/>
                </a:solidFill>
                <a:latin typeface="Segoe UI"/>
              </a:rPr>
              <a:t> é para navegar por código, depois de uma decisão. Para navegar por clique existe o Link — próximo slide.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09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66928" y="6711696"/>
            <a:ext cx="7108610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1698955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16989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A PÁGINA DE DESTINO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5989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Home.jsx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1694180"/>
            <a:ext cx="5989320" cy="4237736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 Same Side Corner Rectangle 8"/>
          <p:cNvSpPr/>
          <p:nvPr/>
        </p:nvSpPr>
        <p:spPr>
          <a:xfrm>
            <a:off x="566928" y="1694180"/>
            <a:ext cx="5989320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2059940"/>
            <a:ext cx="5989320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68096" y="1835912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9264" y="1835912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70432" y="1835912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35607" y="1776476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Home.jsx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078228"/>
            <a:ext cx="420624" cy="3826255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05840" y="2078228"/>
            <a:ext cx="10972" cy="3826255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2315972"/>
            <a:ext cx="365760" cy="3615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7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8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9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10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315972"/>
            <a:ext cx="4983480" cy="337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86C0"/>
                </a:solidFill>
                <a:latin typeface="Cascadia Mono"/>
              </a:rPr>
              <a:t>import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{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DCDCAA"/>
                </a:solidFill>
                <a:latin typeface="Cascadia Mono"/>
              </a:rPr>
              <a:t>Link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}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586C0"/>
                </a:solidFill>
                <a:latin typeface="Cascadia Mono"/>
              </a:rPr>
              <a:t>from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"react-router-dom"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86C0"/>
                </a:solidFill>
                <a:latin typeface="Cascadia Mono"/>
              </a:rPr>
              <a:t>import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"./Home.css"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86C0"/>
                </a:solidFill>
                <a:latin typeface="Cascadia Mono"/>
              </a:rPr>
              <a:t>function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DCDCAA"/>
                </a:solidFill>
                <a:latin typeface="Cascadia Mono"/>
              </a:rPr>
              <a:t>Home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(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)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{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</a:t>
            </a:r>
            <a:r>
              <a:rPr sz="1300" b="0" i="0">
                <a:solidFill>
                  <a:srgbClr val="C586C0"/>
                </a:solidFill>
                <a:latin typeface="Cascadia Mono"/>
              </a:rPr>
              <a:t>return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(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&lt;div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className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"container-home"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&lt;div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className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"cartao"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&lt;h2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Ponto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Eletrônico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&lt;/h2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&lt;p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Você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entrou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no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sistema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.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&lt;/p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&lt;Link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to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"/"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Sair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&lt;/Link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&lt;/div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&lt;/div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)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27632"/>
            <a:ext cx="41148" cy="4370832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214616" y="1700784"/>
            <a:ext cx="4410151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Esta é a nossa segunda tela. Repare que ela não tem nada de especial: é um componente comum, igual ao Login.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Não existe nenhum código dizendo "eu sou a página /home". Quem faz essa ligação é o Route lá no App.jsx — a página não precisa saber o endereço dela.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Por enquanto ela só dá as boas-vindas. Nas próximas aulas é aqui que vai nascer o registro de ponto.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14616" y="5102352"/>
            <a:ext cx="4410151" cy="896112"/>
          </a:xfrm>
          <a:prstGeom prst="roundRect">
            <a:avLst>
              <a:gd name="adj" fmla="val 5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34071" y="5257800"/>
            <a:ext cx="397123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CDCAA"/>
                </a:solidFill>
                <a:latin typeface="Cascadia Mono"/>
              </a:rPr>
              <a:t>export default Home;</a:t>
            </a:r>
            <a:r>
              <a:rPr sz="1250" b="0" i="0">
                <a:solidFill>
                  <a:srgbClr val="9A9AB0"/>
                </a:solidFill>
                <a:latin typeface="Segoe UI"/>
              </a:rPr>
              <a:t>
Como sempre, essa linha no final é o que permite importar o componente no App.jsx.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10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66928" y="6711696"/>
            <a:ext cx="7898456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2673705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267370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A PÁGINA DE DESTINO  ·  HOME.JSX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5989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Link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1694180"/>
            <a:ext cx="5989320" cy="4237736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 Same Side Corner Rectangle 8"/>
          <p:cNvSpPr/>
          <p:nvPr/>
        </p:nvSpPr>
        <p:spPr>
          <a:xfrm>
            <a:off x="566928" y="1694180"/>
            <a:ext cx="5989320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2059940"/>
            <a:ext cx="5989320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68096" y="1835912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9264" y="1835912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70432" y="1835912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35607" y="1776476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Home.jsx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4446524"/>
            <a:ext cx="5477256" cy="323596"/>
          </a:xfrm>
          <a:prstGeom prst="rect">
            <a:avLst/>
          </a:prstGeom>
          <a:solidFill>
            <a:srgbClr val="26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05840" y="4446524"/>
            <a:ext cx="32004" cy="32359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2078228"/>
            <a:ext cx="420624" cy="3826255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005840" y="2078228"/>
            <a:ext cx="10972" cy="3826255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2315972"/>
            <a:ext cx="365760" cy="3615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7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8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9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6CF5"/>
                </a:solidFill>
                <a:latin typeface="Cascadia Mono"/>
              </a:rPr>
              <a:t>10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11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12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13</a:t>
            </a:r>
          </a:p>
          <a:p>
            <a:pPr algn="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315972"/>
            <a:ext cx="4983480" cy="337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{ Link } from "react-router-dom";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import "./Home.css";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function Home() {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return (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&lt;div className="container-home"&gt;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  &lt;div className="cartao"&gt;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    &lt;h2&gt;Ponto Eletrônico&lt;/h2&gt;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    &lt;p&gt;Você entrou no sistema.&lt;/p&gt;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8C8D4"/>
                </a:solidFill>
                <a:latin typeface="Cascadia Mono"/>
              </a:rPr>
              <a:t>        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&lt;Link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to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=</a:t>
            </a:r>
            <a:r>
              <a:rPr sz="1300" b="0" i="0">
                <a:solidFill>
                  <a:srgbClr val="CE9178"/>
                </a:solidFill>
                <a:latin typeface="Cascadia Mono"/>
              </a:rPr>
              <a:t>"/"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  <a:r>
              <a:rPr sz="1300" b="0" i="0">
                <a:solidFill>
                  <a:srgbClr val="9CDCFE"/>
                </a:solidFill>
                <a:latin typeface="Cascadia Mono"/>
              </a:rPr>
              <a:t>Sair</a:t>
            </a:r>
            <a:r>
              <a:rPr sz="1300" b="0" i="0">
                <a:solidFill>
                  <a:srgbClr val="4EC9F0"/>
                </a:solidFill>
                <a:latin typeface="Cascadia Mono"/>
              </a:rPr>
              <a:t>&lt;/Link</a:t>
            </a:r>
            <a:r>
              <a:rPr sz="1300" b="0" i="0">
                <a:solidFill>
                  <a:srgbClr val="C8C8D4"/>
                </a:solidFill>
                <a:latin typeface="Cascadia Mono"/>
              </a:rPr>
              <a:t>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  &lt;/div&gt;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  &lt;/div&gt;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  );</a:t>
            </a:r>
          </a:p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6A80"/>
                </a:solidFill>
                <a:latin typeface="Cascadia Mono"/>
              </a:rPr>
              <a:t>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627632"/>
            <a:ext cx="41148" cy="4370832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14616" y="1700784"/>
            <a:ext cx="4410151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O </a:t>
            </a:r>
            <a:r>
              <a:rPr sz="1450" b="1" i="0">
                <a:solidFill>
                  <a:srgbClr val="4EC9F0"/>
                </a:solidFill>
                <a:latin typeface="Cascadia Mono"/>
              </a:rPr>
              <a:t>&lt;Link&gt;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 é o link do React Router. Ele vira um </a:t>
            </a:r>
            <a:r>
              <a:rPr sz="1450" b="1" i="0">
                <a:solidFill>
                  <a:srgbClr val="4EC9F0"/>
                </a:solidFill>
                <a:latin typeface="Cascadia Mono"/>
              </a:rPr>
              <a:t>&lt;a&gt;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 no navegador, mas com um detalhe importante.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Um &lt;a href&gt; comum RECARREGA a página inteira: o React sobe do zero e todo o estado da aplicação se perde.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 i="0">
                <a:solidFill>
                  <a:srgbClr val="9A9AB0"/>
                </a:solidFill>
                <a:latin typeface="Segoe UI"/>
              </a:rPr>
              <a:t>Já o Link troca a tela sem recarregar nada. E repare que ele usa </a:t>
            </a:r>
            <a:r>
              <a:rPr sz="1450" b="1" i="0">
                <a:solidFill>
                  <a:srgbClr val="9CDCFE"/>
                </a:solidFill>
                <a:latin typeface="Cascadia Mono"/>
              </a:rPr>
              <a:t>to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, não </a:t>
            </a:r>
            <a:r>
              <a:rPr sz="1450" b="1" i="0">
                <a:solidFill>
                  <a:srgbClr val="9CDCFE"/>
                </a:solidFill>
                <a:latin typeface="Cascadia Mono"/>
              </a:rPr>
              <a:t>href</a:t>
            </a:r>
            <a:r>
              <a:rPr sz="1450" b="0" i="0">
                <a:solidFill>
                  <a:srgbClr val="9A9AB0"/>
                </a:solidFill>
                <a:latin typeface="Segoe UI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11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66928" y="6711696"/>
            <a:ext cx="8688302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1698955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16989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A PÁGINA DE DESTINO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8E8F0"/>
                </a:solidFill>
                <a:latin typeface="Cascadia Mono"/>
              </a:rPr>
              <a:t>Home.css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5391759" cy="4617720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 Same Side Corner Rectangle 6"/>
          <p:cNvSpPr/>
          <p:nvPr/>
        </p:nvSpPr>
        <p:spPr>
          <a:xfrm>
            <a:off x="566928" y="1481328"/>
            <a:ext cx="5391759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847088"/>
            <a:ext cx="5391759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1623060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69264" y="1623060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170432" y="1623060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35607" y="1563624"/>
            <a:ext cx="42944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Home.css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1865376"/>
            <a:ext cx="420624" cy="4206240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005840" y="1865376"/>
            <a:ext cx="10972" cy="4206240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66928" y="2103120"/>
            <a:ext cx="365760" cy="399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7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8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9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10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11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12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13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14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15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103120"/>
            <a:ext cx="4385919" cy="37581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BA7D"/>
                </a:solidFill>
                <a:latin typeface="Cascadia Mono"/>
              </a:rPr>
              <a:t>.container-home 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{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display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flex;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justify-content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center;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align-items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center;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height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100vh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background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#f0f2f5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8D4"/>
                </a:solidFill>
                <a:latin typeface="Cascadia Mono"/>
              </a:rPr>
              <a:t>}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BA7D"/>
                </a:solidFill>
                <a:latin typeface="Cascadia Mono"/>
              </a:rPr>
              <a:t>.cartao 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{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background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white;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padding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2rem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border-radius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8px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box-shadow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0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2px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10px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rgba(0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,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0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,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0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,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0.1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);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width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300px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text-align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center;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8D4"/>
                </a:solidFill>
                <a:latin typeface="Cascadia Mono"/>
              </a:rP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481328"/>
            <a:ext cx="5391759" cy="4617720"/>
          </a:xfrm>
          <a:prstGeom prst="roundRect">
            <a:avLst>
              <a:gd name="adj" fmla="val 35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 Same Side Corner Rectangle 17"/>
          <p:cNvSpPr/>
          <p:nvPr/>
        </p:nvSpPr>
        <p:spPr>
          <a:xfrm>
            <a:off x="6233007" y="1481328"/>
            <a:ext cx="5391759" cy="384048"/>
          </a:xfrm>
          <a:prstGeom prst="round2SameRect">
            <a:avLst>
              <a:gd name="adj1" fmla="val 9000"/>
              <a:gd name="adj2" fmla="val 0"/>
            </a:avLst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33007" y="1847088"/>
            <a:ext cx="5391759" cy="18288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434175" y="1623060"/>
            <a:ext cx="100584" cy="100584"/>
          </a:xfrm>
          <a:prstGeom prst="ellipse">
            <a:avLst/>
          </a:prstGeom>
          <a:solidFill>
            <a:srgbClr val="F07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635343" y="1623060"/>
            <a:ext cx="100584" cy="100584"/>
          </a:xfrm>
          <a:prstGeom prst="ellipse">
            <a:avLst/>
          </a:prstGeom>
          <a:solidFill>
            <a:srgbClr val="E0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836511" y="1623060"/>
            <a:ext cx="100584" cy="100584"/>
          </a:xfrm>
          <a:prstGeom prst="ellipse">
            <a:avLst/>
          </a:prstGeom>
          <a:solidFill>
            <a:srgbClr val="4EC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01687" y="1563624"/>
            <a:ext cx="42944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AB0"/>
                </a:solidFill>
                <a:latin typeface="Cascadia Mono"/>
              </a:rPr>
              <a:t>Home.css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51295" y="1865376"/>
            <a:ext cx="420624" cy="4206240"/>
          </a:xfrm>
          <a:prstGeom prst="rect">
            <a:avLst/>
          </a:prstGeom>
          <a:solidFill>
            <a:srgbClr val="24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671919" y="1865376"/>
            <a:ext cx="10972" cy="4206240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33007" y="2103120"/>
            <a:ext cx="365760" cy="399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2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3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4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5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6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7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8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9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10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11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12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13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14</a:t>
            </a:r>
          </a:p>
          <a:p>
            <a:pPr algn="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A6A80"/>
                </a:solidFill>
                <a:latin typeface="Cascadia Mono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03120"/>
            <a:ext cx="4385919" cy="37581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BA7D"/>
                </a:solidFill>
                <a:latin typeface="Cascadia Mono"/>
              </a:rPr>
              <a:t>.cartao h2 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{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margin-top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0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8D4"/>
                </a:solidFill>
                <a:latin typeface="Cascadia Mono"/>
              </a:rPr>
              <a:t>}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BA7D"/>
                </a:solidFill>
                <a:latin typeface="Cascadia Mono"/>
              </a:rPr>
              <a:t>.cartao a 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{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display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inline-block;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margin-top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1rem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color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B5CEA8"/>
                </a:solidFill>
                <a:latin typeface="Cascadia Mono"/>
              </a:rPr>
              <a:t>#4f46e5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text-decoration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none;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font-weight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bold;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8D4"/>
                </a:solidFill>
                <a:latin typeface="Cascadia Mono"/>
              </a:rPr>
              <a:t>}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BA7D"/>
                </a:solidFill>
                <a:latin typeface="Cascadia Mono"/>
              </a:rPr>
              <a:t>.cartao a:hover 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{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CDCFE"/>
                </a:solidFill>
                <a:latin typeface="Cascadia Mono"/>
              </a:rPr>
              <a:t>  text-decoration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:</a:t>
            </a:r>
            <a:r>
              <a:rPr sz="1150" b="0" i="0">
                <a:solidFill>
                  <a:srgbClr val="C8C8D4"/>
                </a:solidFill>
                <a:latin typeface="Cascadia Mono"/>
              </a:rPr>
              <a:t> </a:t>
            </a:r>
            <a:r>
              <a:rPr sz="1150" b="0" i="0">
                <a:solidFill>
                  <a:srgbClr val="CE9178"/>
                </a:solidFill>
                <a:latin typeface="Cascadia Mono"/>
              </a:rPr>
              <a:t>underline;</a:t>
            </a:r>
          </a:p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C8D4"/>
                </a:solidFill>
                <a:latin typeface="Cascadia Mono"/>
              </a:rPr>
              <a:t>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12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66928" y="6711696"/>
            <a:ext cx="9478147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1249070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12490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RECAPITULANDO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E8F0"/>
                </a:solidFill>
                <a:latin typeface="Bahnschrift SemiBold Condensed"/>
              </a:rPr>
              <a:t>O caminho inteiro, em quatro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1869948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1869948"/>
            <a:ext cx="822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C6CF5"/>
                </a:solidFill>
                <a:latin typeface="Cascadia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1869948"/>
            <a:ext cx="9686239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8E8F0"/>
                </a:solidFill>
                <a:latin typeface="Segoe UI"/>
              </a:rPr>
              <a:t>Instalar: </a:t>
            </a:r>
            <a:r>
              <a:rPr sz="1600" b="1" i="0">
                <a:solidFill>
                  <a:srgbClr val="DCDCAA"/>
                </a:solidFill>
                <a:latin typeface="Cascadia Mono"/>
              </a:rPr>
              <a:t>npm install react-router-dom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67228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96112" y="2967228"/>
            <a:ext cx="822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C6CF5"/>
                </a:solidFill>
                <a:latin typeface="Cascadia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2967228"/>
            <a:ext cx="9686239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8E8F0"/>
                </a:solidFill>
                <a:latin typeface="Segoe UI"/>
              </a:rPr>
              <a:t>Abraçar o App com </a:t>
            </a:r>
            <a:r>
              <a:rPr sz="1600" b="1" i="0">
                <a:solidFill>
                  <a:srgbClr val="4EC9F0"/>
                </a:solidFill>
                <a:latin typeface="Cascadia Mono"/>
              </a:rPr>
              <a:t>&lt;BrowserRouter&gt;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no main.jsx.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64508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4064508"/>
            <a:ext cx="822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C6CF5"/>
                </a:solidFill>
                <a:latin typeface="Cascadia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4064508"/>
            <a:ext cx="9686239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8E8F0"/>
                </a:solidFill>
                <a:latin typeface="Segoe UI"/>
              </a:rPr>
              <a:t>Mapear as telas com </a:t>
            </a:r>
            <a:r>
              <a:rPr sz="1600" b="1" i="0">
                <a:solidFill>
                  <a:srgbClr val="4EC9F0"/>
                </a:solidFill>
                <a:latin typeface="Cascadia Mono"/>
              </a:rPr>
              <a:t>&lt;Routes&gt;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e </a:t>
            </a:r>
            <a:r>
              <a:rPr sz="1600" b="1" i="0">
                <a:solidFill>
                  <a:srgbClr val="4EC9F0"/>
                </a:solidFill>
                <a:latin typeface="Cascadia Mono"/>
              </a:rPr>
              <a:t>&lt;Route&gt;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no App.jsx.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161788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6112" y="5161788"/>
            <a:ext cx="822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C6CF5"/>
                </a:solidFill>
                <a:latin typeface="Cascadia Mon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5161788"/>
            <a:ext cx="9686239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8E8F0"/>
                </a:solidFill>
                <a:latin typeface="Segoe UI"/>
              </a:rPr>
              <a:t>Navegar: </a:t>
            </a:r>
            <a:r>
              <a:rPr sz="1600" b="1" i="0">
                <a:solidFill>
                  <a:srgbClr val="DCDCAA"/>
                </a:solidFill>
                <a:latin typeface="Cascadia Mono"/>
              </a:rPr>
              <a:t>navigate()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por código, </a:t>
            </a:r>
            <a:r>
              <a:rPr sz="1600" b="1" i="0">
                <a:solidFill>
                  <a:srgbClr val="4EC9F0"/>
                </a:solidFill>
                <a:latin typeface="Cascadia Mono"/>
              </a:rPr>
              <a:t>&lt;Link&gt;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por clique.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13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66928" y="6711696"/>
            <a:ext cx="10267993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D1A2E"/>
              </a:gs>
              <a:gs pos="100000">
                <a:srgbClr val="121219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74166" cy="292608"/>
          </a:xfrm>
          <a:prstGeom prst="roundRect">
            <a:avLst>
              <a:gd name="adj" fmla="val 50000"/>
            </a:avLst>
          </a:prstGeom>
          <a:solidFill>
            <a:srgbClr val="26224A"/>
          </a:solidFill>
          <a:ln w="12700">
            <a:solidFill>
              <a:srgbClr val="3B3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530352"/>
            <a:ext cx="87416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6CF5"/>
                </a:solidFill>
                <a:latin typeface="Segoe UI"/>
              </a:rPr>
              <a:t>E AGORA?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32688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E8F0"/>
                </a:solidFill>
                <a:latin typeface="Bahnschrift SemiBold Condensed"/>
              </a:rPr>
              <a:t>O teu trabalho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7398"/>
            <a:ext cx="2834640" cy="16459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1051560" cy="45720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66928" y="2418588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418588"/>
            <a:ext cx="822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C6CF5"/>
                </a:solidFill>
                <a:latin typeface="Cascadia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418588"/>
            <a:ext cx="9686239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8E8F0"/>
                </a:solidFill>
                <a:latin typeface="Segoe UI"/>
              </a:rPr>
              <a:t>Criar uma </a:t>
            </a:r>
            <a:r>
              <a:rPr sz="1600" b="1" i="0">
                <a:solidFill>
                  <a:srgbClr val="E8E8F0"/>
                </a:solidFill>
                <a:latin typeface="Segoe UI"/>
              </a:rPr>
              <a:t>terceira página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no projeto — o assunto dela é escolha tua.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15868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96112" y="3515868"/>
            <a:ext cx="822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C6CF5"/>
                </a:solidFill>
                <a:latin typeface="Cascadia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515868"/>
            <a:ext cx="9686239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8E8F0"/>
                </a:solidFill>
                <a:latin typeface="Segoe UI"/>
              </a:rPr>
              <a:t>Registrar a rota dela no App.jsx, com o </a:t>
            </a:r>
            <a:r>
              <a:rPr sz="1600" b="1" i="0">
                <a:solidFill>
                  <a:srgbClr val="9CDCFE"/>
                </a:solidFill>
                <a:latin typeface="Cascadia Mono"/>
              </a:rPr>
              <a:t>path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e o </a:t>
            </a:r>
            <a:r>
              <a:rPr sz="1600" b="1" i="0">
                <a:solidFill>
                  <a:srgbClr val="9CDCFE"/>
                </a:solidFill>
                <a:latin typeface="Cascadia Mono"/>
              </a:rPr>
              <a:t>element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que você quiser.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613148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1E1E2A"/>
          </a:solidFill>
          <a:ln w="12700">
            <a:solidFill>
              <a:srgbClr val="2E2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4613148"/>
            <a:ext cx="822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C6CF5"/>
                </a:solidFill>
                <a:latin typeface="Cascadia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4613148"/>
            <a:ext cx="9686239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8E8F0"/>
                </a:solidFill>
                <a:latin typeface="Segoe UI"/>
              </a:rPr>
              <a:t>Colocar um </a:t>
            </a:r>
            <a:r>
              <a:rPr sz="1600" b="1" i="0">
                <a:solidFill>
                  <a:srgbClr val="4EC9F0"/>
                </a:solidFill>
                <a:latin typeface="Cascadia Mono"/>
              </a:rPr>
              <a:t>&lt;Link&gt;</a:t>
            </a:r>
            <a:r>
              <a:rPr sz="1600" b="0" i="0">
                <a:solidFill>
                  <a:srgbClr val="E8E8F0"/>
                </a:solidFill>
                <a:latin typeface="Segoe UI"/>
              </a:rPr>
              <a:t> na Home levando até ela — e outro de volta.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A80"/>
                </a:solidFill>
                <a:latin typeface="Segoe UI"/>
              </a:rPr>
              <a:t>Programação Web 2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Aula 05</a:t>
            </a:r>
            <a:r>
              <a:rPr sz="1000" b="0" i="0">
                <a:solidFill>
                  <a:srgbClr val="7C6CF5"/>
                </a:solidFill>
                <a:latin typeface="Segoe UI"/>
              </a:rPr>
              <a:t>  ·  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Escola Técnica Mesquita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9AB0"/>
                </a:solidFill>
                <a:latin typeface="Segoe UI"/>
              </a:rPr>
              <a:t>14</a:t>
            </a:r>
            <a:r>
              <a:rPr sz="1000" b="0" i="0">
                <a:solidFill>
                  <a:srgbClr val="6A6A80"/>
                </a:solidFill>
                <a:latin typeface="Segoe UI"/>
              </a:rPr>
              <a:t> / 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2E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" y="6711696"/>
            <a:ext cx="11057839" cy="20116"/>
          </a:xfrm>
          <a:prstGeom prst="rect">
            <a:avLst/>
          </a:prstGeom>
          <a:solidFill>
            <a:srgbClr val="7C6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