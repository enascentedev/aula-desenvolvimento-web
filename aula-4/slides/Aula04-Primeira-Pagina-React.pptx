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172199" y="594359"/>
            <a:ext cx="5852160" cy="5852160"/>
          </a:xfrm>
          <a:prstGeom prst="ellipse">
            <a:avLst/>
          </a:prstGeom>
          <a:solidFill>
            <a:srgbClr val="1D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6995159" y="2734056"/>
            <a:ext cx="4206240" cy="1572768"/>
          </a:xfrm>
          <a:prstGeom prst="ellipse">
            <a:avLst/>
          </a:prstGeom>
          <a:noFill/>
          <a:ln w="28575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 rot="3600000">
            <a:off x="6995159" y="2734056"/>
            <a:ext cx="4206240" cy="1572768"/>
          </a:xfrm>
          <a:prstGeom prst="ellipse">
            <a:avLst/>
          </a:prstGeom>
          <a:noFill/>
          <a:ln w="28575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 rot="7200000">
            <a:off x="6995159" y="2734056"/>
            <a:ext cx="4206240" cy="1572768"/>
          </a:xfrm>
          <a:prstGeom prst="ellipse">
            <a:avLst/>
          </a:prstGeom>
          <a:noFill/>
          <a:ln w="28575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8860536" y="3282696"/>
            <a:ext cx="475488" cy="475488"/>
          </a:xfrm>
          <a:prstGeom prst="ellipse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566928"/>
            <a:ext cx="969264" cy="96926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logo-escola-tecnica-mesqui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621792"/>
            <a:ext cx="859536" cy="85953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66928" y="1755648"/>
            <a:ext cx="2448763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66928" y="1755648"/>
            <a:ext cx="2448763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PROGRAMAÇÃO WEB 2  ·  AULA 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249424"/>
            <a:ext cx="71323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E8E8F0"/>
                </a:solidFill>
                <a:latin typeface="Bahnschrift SemiBold Condensed"/>
              </a:rPr>
              <a:t>Primeira página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7C6CF5"/>
                </a:solidFill>
                <a:latin typeface="Bahnschrift SemiBold Condensed"/>
              </a:rPr>
              <a:t>da aplicação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239158"/>
            <a:ext cx="384048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4224528"/>
            <a:ext cx="146304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66928" y="4498848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9A9AB0"/>
                </a:solidFill>
                <a:latin typeface="Segoe UI"/>
              </a:rPr>
              <a:t>Hoje vamos continuar aprendendo…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974336"/>
            <a:ext cx="6766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Segoe UI"/>
              </a:rPr>
              <a:t>Emanuel Nascente  ·  Escola Técnica Mesquita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925312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4EC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66928" y="5925312"/>
            <a:ext cx="129844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EC9A0"/>
                </a:solidFill>
                <a:latin typeface="Cascadia Mono"/>
              </a:rPr>
              <a:t>REACT :D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6711696"/>
            <a:ext cx="691114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2373782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237378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PRIMEIRA PÁGINA DA APLICAÇÃO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8E8F0"/>
                </a:solidFill>
                <a:latin typeface="Bahnschrift SemiBold Condensed"/>
              </a:rPr>
              <a:t>Montando o projeto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1883664"/>
            <a:ext cx="3478682" cy="4114800"/>
          </a:xfrm>
          <a:prstGeom prst="roundRect">
            <a:avLst>
              <a:gd name="adj" fmla="val 28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66928" y="1883664"/>
            <a:ext cx="3478682" cy="41148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77824" y="2194560"/>
            <a:ext cx="285689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B3470"/>
                </a:solidFill>
                <a:latin typeface="Cascadia Mono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633472"/>
            <a:ext cx="285689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E8E8F0"/>
                </a:solidFill>
                <a:latin typeface="Bahnschrift SemiBold Condensed"/>
              </a:rPr>
              <a:t>Começo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054096"/>
            <a:ext cx="285689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B0"/>
                </a:solidFill>
                <a:latin typeface="Segoe UI"/>
              </a:rPr>
              <a:t>Vamos começar com a importação do Vite para o nosso projeto usando o comando abaixo, na pasta do projeto que estamos criando: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" y="4581144"/>
            <a:ext cx="3039770" cy="676656"/>
          </a:xfrm>
          <a:prstGeom prst="roundRect">
            <a:avLst>
              <a:gd name="adj" fmla="val 6000"/>
            </a:avLst>
          </a:prstGeom>
          <a:solidFill>
            <a:srgbClr val="121219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4690872"/>
            <a:ext cx="28386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C6CF5"/>
                </a:solidFill>
                <a:latin typeface="Cascadia Mono"/>
              </a:rPr>
              <a:t>$ </a:t>
            </a:r>
            <a:r>
              <a:rPr sz="1000" b="0" i="0">
                <a:solidFill>
                  <a:srgbClr val="4EC9A0"/>
                </a:solidFill>
                <a:latin typeface="Cascadia Mono"/>
              </a:rPr>
              <a:t>npm create vite@latest</a:t>
            </a:r>
          </a:p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C6CF5"/>
                </a:solidFill>
                <a:latin typeface="Cascadia Mono"/>
              </a:rPr>
              <a:t>  </a:t>
            </a:r>
            <a:r>
              <a:rPr sz="1000" b="0" i="0">
                <a:solidFill>
                  <a:srgbClr val="4EC9A0"/>
                </a:solidFill>
                <a:latin typeface="Cascadia Mono"/>
              </a:rPr>
              <a:t>nomeDoNossoApp -- --template react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5404104"/>
            <a:ext cx="285689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6A6A80"/>
                </a:solidFill>
                <a:latin typeface="Segoe UI"/>
              </a:rPr>
              <a:t>Troque "nomeDoNossoApp" pelo nome do aplicativo como desejar.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56506" y="1883664"/>
            <a:ext cx="3478682" cy="4114800"/>
          </a:xfrm>
          <a:prstGeom prst="roundRect">
            <a:avLst>
              <a:gd name="adj" fmla="val 28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356506" y="1883664"/>
            <a:ext cx="3478682" cy="41148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667402" y="2194560"/>
            <a:ext cx="285689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B3470"/>
                </a:solidFill>
                <a:latin typeface="Cascadia Mono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7402" y="2633472"/>
            <a:ext cx="285689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E8E8F0"/>
                </a:solidFill>
                <a:latin typeface="Bahnschrift SemiBold Condensed"/>
              </a:rPr>
              <a:t>Iniciando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7402" y="3054096"/>
            <a:ext cx="285689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B0"/>
                </a:solidFill>
                <a:latin typeface="Segoe UI"/>
              </a:rPr>
              <a:t>Acesse a pasta pelo próprio prompt usando cd e o nome da pasta que acabamos de criar. Depois execute os dois comandos abaixo, caso ainda não tenha iniciado o serviço do React: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5962" y="4581144"/>
            <a:ext cx="3039770" cy="676656"/>
          </a:xfrm>
          <a:prstGeom prst="roundRect">
            <a:avLst>
              <a:gd name="adj" fmla="val 6000"/>
            </a:avLst>
          </a:prstGeom>
          <a:solidFill>
            <a:srgbClr val="121219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703978" y="4690872"/>
            <a:ext cx="28386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C6CF5"/>
                </a:solidFill>
                <a:latin typeface="Cascadia Mono"/>
              </a:rPr>
              <a:t>$ </a:t>
            </a:r>
            <a:r>
              <a:rPr sz="1000" b="0" i="0">
                <a:solidFill>
                  <a:srgbClr val="4EC9A0"/>
                </a:solidFill>
                <a:latin typeface="Cascadia Mono"/>
              </a:rPr>
              <a:t>npm install</a:t>
            </a:r>
          </a:p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C6CF5"/>
                </a:solidFill>
                <a:latin typeface="Cascadia Mono"/>
              </a:rPr>
              <a:t>$ </a:t>
            </a:r>
            <a:r>
              <a:rPr sz="1000" b="0" i="0">
                <a:solidFill>
                  <a:srgbClr val="4EC9A0"/>
                </a:solidFill>
                <a:latin typeface="Cascadia Mono"/>
              </a:rPr>
              <a:t>npm run dev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46084" y="1883664"/>
            <a:ext cx="3478682" cy="4114800"/>
          </a:xfrm>
          <a:prstGeom prst="roundRect">
            <a:avLst>
              <a:gd name="adj" fmla="val 28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8146084" y="1883664"/>
            <a:ext cx="3478682" cy="41148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456980" y="2194560"/>
            <a:ext cx="285689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B3470"/>
                </a:solidFill>
                <a:latin typeface="Cascadia Mono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6980" y="2633472"/>
            <a:ext cx="285689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E8E8F0"/>
                </a:solidFill>
                <a:latin typeface="Bahnschrift SemiBold Condensed"/>
              </a:rPr>
              <a:t>Vínculo e início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6980" y="3054096"/>
            <a:ext cx="285689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B0"/>
                </a:solidFill>
                <a:latin typeface="Segoe UI"/>
              </a:rPr>
              <a:t>Agora vamos fazer o vínculo do nosso projeto com o Visual Studio Code e, depois disso, vamos criar um novo arquivo chamado Login.jsx — e é nele que vamos trabalhar.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65540" y="4581144"/>
            <a:ext cx="3039770" cy="466344"/>
          </a:xfrm>
          <a:prstGeom prst="roundRect">
            <a:avLst>
              <a:gd name="adj" fmla="val 6000"/>
            </a:avLst>
          </a:prstGeom>
          <a:solidFill>
            <a:srgbClr val="121219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493556" y="4690872"/>
            <a:ext cx="2838602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C6CF5"/>
                </a:solidFill>
                <a:latin typeface="Cascadia Mono"/>
              </a:rPr>
              <a:t>$ </a:t>
            </a:r>
            <a:r>
              <a:rPr sz="1000" b="0" i="0">
                <a:solidFill>
                  <a:srgbClr val="4EC9A0"/>
                </a:solidFill>
                <a:latin typeface="Cascadia Mono"/>
              </a:rPr>
              <a:t>Login.jsx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04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02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16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66928" y="6711696"/>
            <a:ext cx="1382229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649224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64922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REACT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8E8F0"/>
                </a:solidFill>
                <a:latin typeface="Bahnschrift SemiBold Condensed"/>
              </a:rPr>
              <a:t>Trabalhamos em .JSX, não em .JS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2057400"/>
            <a:ext cx="5532120" cy="1097280"/>
          </a:xfrm>
          <a:prstGeom prst="roundRect">
            <a:avLst>
              <a:gd name="adj" fmla="val 5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66928" y="2057400"/>
            <a:ext cx="50292" cy="109728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50976" y="2057400"/>
            <a:ext cx="48920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9A9AB0"/>
                </a:solidFill>
                <a:latin typeface="Segoe UI"/>
              </a:rPr>
              <a:t>Nós trabalhamos no arquivo </a:t>
            </a:r>
            <a:r>
              <a:rPr sz="1900" b="1" i="0">
                <a:solidFill>
                  <a:srgbClr val="7C6CF5"/>
                </a:solidFill>
                <a:latin typeface="Cascadia Mono"/>
              </a:rPr>
              <a:t>.JSX</a:t>
            </a:r>
            <a:r>
              <a:rPr sz="1900" b="0" i="0">
                <a:solidFill>
                  <a:srgbClr val="9A9AB0"/>
                </a:solidFill>
                <a:latin typeface="Segoe UI"/>
              </a:rPr>
              <a:t>, não </a:t>
            </a:r>
            <a:r>
              <a:rPr sz="1900" b="0" i="0">
                <a:solidFill>
                  <a:srgbClr val="9A9AB0"/>
                </a:solidFill>
                <a:latin typeface="Cascadia Mono"/>
              </a:rPr>
              <a:t>.JS</a:t>
            </a:r>
            <a:r>
              <a:rPr sz="1900" b="0" i="0">
                <a:solidFill>
                  <a:srgbClr val="9A9AB0"/>
                </a:solidFill>
                <a:latin typeface="Segoe UI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520440"/>
            <a:ext cx="5532120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A9AB0"/>
                </a:solidFill>
                <a:latin typeface="Segoe UI"/>
              </a:rPr>
              <a:t>Trabalhando em JSX nós usamos uma "extensão" do HTML dentro do nosso arquivo JS. Dessa forma temos uma sintaxe um pouco diferente do JavaScript normal.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0" i="0">
                <a:solidFill>
                  <a:srgbClr val="9A9AB0"/>
                </a:solidFill>
                <a:latin typeface="Segoe UI"/>
              </a:rPr>
              <a:t>Na prática: escrevemos marcação parecida com HTML no meio do código JavaScript, e o React se encarrega de transformar isso na tela.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2057400"/>
            <a:ext cx="4709160" cy="3840480"/>
          </a:xfrm>
          <a:prstGeom prst="roundRect">
            <a:avLst>
              <a:gd name="adj" fmla="val 3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360920" y="2423160"/>
            <a:ext cx="37947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9A9AB0"/>
                </a:solidFill>
                <a:latin typeface="Segoe UI"/>
              </a:rPr>
              <a:t>JavaScript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2825496"/>
            <a:ext cx="3794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586C0"/>
                </a:solidFill>
                <a:latin typeface="Cascadia Mono"/>
              </a:rPr>
              <a:t>.js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3227832"/>
            <a:ext cx="37947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C6CF5"/>
                </a:solidFill>
                <a:latin typeface="Cascadia Mono"/>
              </a:rPr>
              <a:t>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3630168"/>
            <a:ext cx="37947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9A9AB0"/>
                </a:solidFill>
                <a:latin typeface="Segoe UI"/>
              </a:rPr>
              <a:t>HTML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4032504"/>
            <a:ext cx="3794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EC9F0"/>
                </a:solidFill>
                <a:latin typeface="Cascadia Mono"/>
              </a:rPr>
              <a:t>&lt;tags&gt;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4434840"/>
            <a:ext cx="37947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C6CF5"/>
                </a:solidFill>
                <a:latin typeface="Cascadia Mono"/>
              </a:rPr>
              <a:t>=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60920" y="4727448"/>
            <a:ext cx="3794760" cy="914400"/>
          </a:xfrm>
          <a:prstGeom prst="roundRect">
            <a:avLst>
              <a:gd name="adj" fmla="val 10000"/>
            </a:avLst>
          </a:prstGeom>
          <a:solidFill>
            <a:srgbClr val="26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360920" y="4837176"/>
            <a:ext cx="37947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E8E8F0"/>
                </a:solidFill>
                <a:latin typeface="Segoe UI"/>
              </a:rPr>
              <a:t>JSX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5239512"/>
            <a:ext cx="3794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C6CF5"/>
                </a:solidFill>
                <a:latin typeface="Cascadia Mono"/>
              </a:rPr>
              <a:t>.jsx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04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03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16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566928" y="6711696"/>
            <a:ext cx="2073344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3048609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3048609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BORA COMEÇAR?  ·  INÍCIO DA APLICAÇÃO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59893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8E8F0"/>
                </a:solidFill>
                <a:latin typeface="Cascadia Mono"/>
              </a:rPr>
              <a:t>import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2418080"/>
            <a:ext cx="5989320" cy="2789936"/>
          </a:xfrm>
          <a:prstGeom prst="roundRect">
            <a:avLst>
              <a:gd name="adj" fmla="val 35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 Same Side Corner Rectangle 8"/>
          <p:cNvSpPr/>
          <p:nvPr/>
        </p:nvSpPr>
        <p:spPr>
          <a:xfrm>
            <a:off x="566928" y="2418080"/>
            <a:ext cx="5989320" cy="384048"/>
          </a:xfrm>
          <a:prstGeom prst="round2SameRect">
            <a:avLst>
              <a:gd name="adj1" fmla="val 9000"/>
              <a:gd name="adj2" fmla="val 0"/>
            </a:avLst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2783840"/>
            <a:ext cx="5989320" cy="18288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68096" y="2559812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69264" y="2559812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170432" y="2559812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435607" y="2500376"/>
            <a:ext cx="4892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B0"/>
                </a:solidFill>
                <a:latin typeface="Cascadia Mono"/>
              </a:rPr>
              <a:t>Login.jsx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2998724"/>
            <a:ext cx="5477256" cy="323596"/>
          </a:xfrm>
          <a:prstGeom prst="rect">
            <a:avLst/>
          </a:prstGeom>
          <a:solidFill>
            <a:srgbClr val="26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005840" y="2998724"/>
            <a:ext cx="32004" cy="32359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85216" y="2802128"/>
            <a:ext cx="420624" cy="2378456"/>
          </a:xfrm>
          <a:prstGeom prst="rect">
            <a:avLst/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005840" y="2802128"/>
            <a:ext cx="10972" cy="237845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66928" y="3039872"/>
            <a:ext cx="365760" cy="2168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1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2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3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4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5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6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7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039872"/>
            <a:ext cx="4983480" cy="19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586C0"/>
                </a:solidFill>
                <a:latin typeface="Cascadia Mono"/>
              </a:rPr>
              <a:t>import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{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DCDCAA"/>
                </a:solidFill>
                <a:latin typeface="Cascadia Mono"/>
              </a:rPr>
              <a:t>useState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}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586C0"/>
                </a:solidFill>
                <a:latin typeface="Cascadia Mono"/>
              </a:rPr>
              <a:t>from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"react"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function Login() {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const [email, setEmail] = useState("");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const [senha, setSenha] = useState("");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const [erro, setErro] = useState("");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...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03720" y="1627632"/>
            <a:ext cx="41148" cy="4370832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214616" y="1700784"/>
            <a:ext cx="4410151" cy="3182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O que basicamente o import { useState } from "react" faz é: ir até a biblioteca do REACT e chamar a função useState.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1" i="0">
                <a:solidFill>
                  <a:srgbClr val="DCDCAA"/>
                </a:solidFill>
                <a:latin typeface="Cascadia Mono"/>
              </a:rPr>
              <a:t>useState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 é chamado de </a:t>
            </a:r>
            <a:r>
              <a:rPr sz="1450" b="1" i="0">
                <a:solidFill>
                  <a:srgbClr val="E8E8F0"/>
                </a:solidFill>
                <a:latin typeface="Segoe UI"/>
              </a:rPr>
              <a:t>Hook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. Ele permite que funções "lembrem" de informações entre uma renderização e outra.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Variáveis comuns não avisam a tela quando mudam. Já com o useState isso se resolve: se atualizarmos um contador de 0 para 1, ele muda na tela sem a necessidade de dar um F5.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04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04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16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566928" y="6711696"/>
            <a:ext cx="2764459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3048609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3048609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BORA COMEÇAR?  ·  INÍCIO DA APLICAÇÃO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59893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8E8F0"/>
                </a:solidFill>
                <a:latin typeface="Cascadia Mono"/>
              </a:rPr>
              <a:t>function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2418080"/>
            <a:ext cx="5989320" cy="2789936"/>
          </a:xfrm>
          <a:prstGeom prst="roundRect">
            <a:avLst>
              <a:gd name="adj" fmla="val 35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 Same Side Corner Rectangle 8"/>
          <p:cNvSpPr/>
          <p:nvPr/>
        </p:nvSpPr>
        <p:spPr>
          <a:xfrm>
            <a:off x="566928" y="2418080"/>
            <a:ext cx="5989320" cy="384048"/>
          </a:xfrm>
          <a:prstGeom prst="round2SameRect">
            <a:avLst>
              <a:gd name="adj1" fmla="val 9000"/>
              <a:gd name="adj2" fmla="val 0"/>
            </a:avLst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2783840"/>
            <a:ext cx="5989320" cy="18288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68096" y="2559812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69264" y="2559812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170432" y="2559812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435607" y="2500376"/>
            <a:ext cx="4892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B0"/>
                </a:solidFill>
                <a:latin typeface="Cascadia Mono"/>
              </a:rPr>
              <a:t>Login.jsx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481324"/>
            <a:ext cx="5477256" cy="323596"/>
          </a:xfrm>
          <a:prstGeom prst="rect">
            <a:avLst/>
          </a:prstGeom>
          <a:solidFill>
            <a:srgbClr val="26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005840" y="3481324"/>
            <a:ext cx="32004" cy="32359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85216" y="2802128"/>
            <a:ext cx="420624" cy="2378456"/>
          </a:xfrm>
          <a:prstGeom prst="rect">
            <a:avLst/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005840" y="2802128"/>
            <a:ext cx="10972" cy="237845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66928" y="3039872"/>
            <a:ext cx="365760" cy="2168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2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3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4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5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6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7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039872"/>
            <a:ext cx="4983480" cy="19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import { useState } from "react";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586C0"/>
                </a:solidFill>
                <a:latin typeface="Cascadia Mono"/>
              </a:rPr>
              <a:t>function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DCDCAA"/>
                </a:solidFill>
                <a:latin typeface="Cascadia Mono"/>
              </a:rPr>
              <a:t>Login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(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)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{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const [email, setEmail] = useState("");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const [senha, setSenha] = useState("");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const [erro, setErro] = useState("");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...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03720" y="1627632"/>
            <a:ext cx="41148" cy="4370832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214616" y="1700784"/>
            <a:ext cx="4410151" cy="3182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Já o function Login é a nossa função que será a base do sistema. Ela é como se fosse a nossa classe: tudo que vai aparecer na tela nós colocamos dentro dessa função.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O interessante — e estranho para quem vem de outras linguagens — é que podemos ANINHAR funções…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Isso é uma prática bem específica: as funções internas definem o comportamento da nossa aplicação.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04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05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16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566928" y="6711696"/>
            <a:ext cx="3455574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3048609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3048609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BORA COMEÇAR?  ·  INÍCIO DA APLICAÇÃO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59893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8E8F0"/>
                </a:solidFill>
                <a:latin typeface="Cascadia Mono"/>
              </a:rPr>
              <a:t>const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2418080"/>
            <a:ext cx="5989320" cy="2789936"/>
          </a:xfrm>
          <a:prstGeom prst="roundRect">
            <a:avLst>
              <a:gd name="adj" fmla="val 35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 Same Side Corner Rectangle 8"/>
          <p:cNvSpPr/>
          <p:nvPr/>
        </p:nvSpPr>
        <p:spPr>
          <a:xfrm>
            <a:off x="566928" y="2418080"/>
            <a:ext cx="5989320" cy="384048"/>
          </a:xfrm>
          <a:prstGeom prst="round2SameRect">
            <a:avLst>
              <a:gd name="adj1" fmla="val 9000"/>
              <a:gd name="adj2" fmla="val 0"/>
            </a:avLst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2783840"/>
            <a:ext cx="5989320" cy="18288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68096" y="2559812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69264" y="2559812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170432" y="2559812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435607" y="2500376"/>
            <a:ext cx="4892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B0"/>
                </a:solidFill>
                <a:latin typeface="Cascadia Mono"/>
              </a:rPr>
              <a:t>Login.jsx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722624"/>
            <a:ext cx="5477256" cy="806196"/>
          </a:xfrm>
          <a:prstGeom prst="rect">
            <a:avLst/>
          </a:prstGeom>
          <a:solidFill>
            <a:srgbClr val="26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005840" y="3722624"/>
            <a:ext cx="32004" cy="80619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85216" y="2802128"/>
            <a:ext cx="420624" cy="2378456"/>
          </a:xfrm>
          <a:prstGeom prst="rect">
            <a:avLst/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005840" y="2802128"/>
            <a:ext cx="10972" cy="237845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66928" y="3039872"/>
            <a:ext cx="365760" cy="2168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2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3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4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5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6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7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039872"/>
            <a:ext cx="4983480" cy="19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import { useState } from "react";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function Login() {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</a:t>
            </a:r>
            <a:r>
              <a:rPr sz="1300" b="0" i="0">
                <a:solidFill>
                  <a:srgbClr val="C586C0"/>
                </a:solidFill>
                <a:latin typeface="Cascadia Mono"/>
              </a:rPr>
              <a:t>const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[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email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,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DCDCAA"/>
                </a:solidFill>
                <a:latin typeface="Cascadia Mono"/>
              </a:rPr>
              <a:t>setEmail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]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DCDCAA"/>
                </a:solidFill>
                <a:latin typeface="Cascadia Mono"/>
              </a:rPr>
              <a:t>useState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(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""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)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</a:t>
            </a:r>
            <a:r>
              <a:rPr sz="1300" b="0" i="0">
                <a:solidFill>
                  <a:srgbClr val="C586C0"/>
                </a:solidFill>
                <a:latin typeface="Cascadia Mono"/>
              </a:rPr>
              <a:t>const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[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senha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,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DCDCAA"/>
                </a:solidFill>
                <a:latin typeface="Cascadia Mono"/>
              </a:rPr>
              <a:t>setSenha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]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DCDCAA"/>
                </a:solidFill>
                <a:latin typeface="Cascadia Mono"/>
              </a:rPr>
              <a:t>useState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(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""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)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</a:t>
            </a:r>
            <a:r>
              <a:rPr sz="1300" b="0" i="0">
                <a:solidFill>
                  <a:srgbClr val="C586C0"/>
                </a:solidFill>
                <a:latin typeface="Cascadia Mono"/>
              </a:rPr>
              <a:t>const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[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erro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,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DCDCAA"/>
                </a:solidFill>
                <a:latin typeface="Cascadia Mono"/>
              </a:rPr>
              <a:t>setErro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]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DCDCAA"/>
                </a:solidFill>
                <a:latin typeface="Cascadia Mono"/>
              </a:rPr>
              <a:t>useState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(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""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)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...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03720" y="1627632"/>
            <a:ext cx="41148" cy="4370832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214616" y="1700784"/>
            <a:ext cx="4410151" cy="3182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As consts são as nossas variáveis, e o nome vem de constante.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Ela serve para declarar uma variável que, depois de receber um valor inicial, não pode ser "reatribuída".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Repare que cada estado vem em par: o valor (email) e a função que muda esse valor (setEmail).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04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06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16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566928" y="6711696"/>
            <a:ext cx="4146689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3048609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3048609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BORA COMEÇAR?  ·  INÍCIO DA APLICAÇÃO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59893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8E8F0"/>
                </a:solidFill>
                <a:latin typeface="Cascadia Mono"/>
              </a:rPr>
              <a:t>function handleSubmit(e)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2056130"/>
            <a:ext cx="5989320" cy="3513836"/>
          </a:xfrm>
          <a:prstGeom prst="roundRect">
            <a:avLst>
              <a:gd name="adj" fmla="val 35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 Same Side Corner Rectangle 8"/>
          <p:cNvSpPr/>
          <p:nvPr/>
        </p:nvSpPr>
        <p:spPr>
          <a:xfrm>
            <a:off x="566928" y="2056130"/>
            <a:ext cx="5989320" cy="384048"/>
          </a:xfrm>
          <a:prstGeom prst="round2SameRect">
            <a:avLst>
              <a:gd name="adj1" fmla="val 9000"/>
              <a:gd name="adj2" fmla="val 0"/>
            </a:avLst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2421890"/>
            <a:ext cx="5989320" cy="18288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68096" y="2197862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69264" y="2197862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170432" y="2197862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435607" y="2138426"/>
            <a:ext cx="4892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B0"/>
                </a:solidFill>
                <a:latin typeface="Cascadia Mono"/>
              </a:rPr>
              <a:t>Login.jsx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119374"/>
            <a:ext cx="5477256" cy="323596"/>
          </a:xfrm>
          <a:prstGeom prst="rect">
            <a:avLst/>
          </a:prstGeom>
          <a:solidFill>
            <a:srgbClr val="26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005840" y="3119374"/>
            <a:ext cx="32004" cy="32359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85216" y="2440178"/>
            <a:ext cx="420624" cy="3102356"/>
          </a:xfrm>
          <a:prstGeom prst="rect">
            <a:avLst/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005840" y="2440178"/>
            <a:ext cx="10972" cy="310235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66928" y="2677922"/>
            <a:ext cx="365760" cy="28920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2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3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4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5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6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7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8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9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10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2677922"/>
            <a:ext cx="4983480" cy="2654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...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</a:t>
            </a:r>
            <a:r>
              <a:rPr sz="1300" b="0" i="0">
                <a:solidFill>
                  <a:srgbClr val="C586C0"/>
                </a:solidFill>
                <a:latin typeface="Cascadia Mono"/>
              </a:rPr>
              <a:t>function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DCDCAA"/>
                </a:solidFill>
                <a:latin typeface="Cascadia Mono"/>
              </a:rPr>
              <a:t>handleSubmit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(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e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)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{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e.preventDefault();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if (!email || !senha) {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  setErro("Preencha todos os campos.");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  return;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}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...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03720" y="1627632"/>
            <a:ext cx="41148" cy="4370832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214616" y="1700784"/>
            <a:ext cx="4410151" cy="3182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Essa é a nossa primeira função aninhada: ela está dentro da nossa função de Login.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O e que aparece na declaração da função é uma convenção — ele basicamente significa que ali vamos usar eventos. Poderíamos inclusive trocar o e por evento.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Esse evento terá as informações de quem disparou o evento, que tipo de evento foi, a posição do mouse e a tecla pressionada.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04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07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16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566928" y="6711696"/>
            <a:ext cx="4837804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3048609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3048609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BORA COMEÇAR?  ·  INÍCIO DA APLICAÇÃO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59893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8E8F0"/>
                </a:solidFill>
                <a:latin typeface="Cascadia Mono"/>
              </a:rPr>
              <a:t>if / else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1935479"/>
            <a:ext cx="5989320" cy="3755136"/>
          </a:xfrm>
          <a:prstGeom prst="roundRect">
            <a:avLst>
              <a:gd name="adj" fmla="val 35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 Same Side Corner Rectangle 8"/>
          <p:cNvSpPr/>
          <p:nvPr/>
        </p:nvSpPr>
        <p:spPr>
          <a:xfrm>
            <a:off x="566928" y="1935479"/>
            <a:ext cx="5989320" cy="384048"/>
          </a:xfrm>
          <a:prstGeom prst="round2SameRect">
            <a:avLst>
              <a:gd name="adj1" fmla="val 9000"/>
              <a:gd name="adj2" fmla="val 0"/>
            </a:avLst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2301239"/>
            <a:ext cx="5989320" cy="18288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68096" y="2077211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69264" y="2077211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170432" y="2077211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435607" y="2017775"/>
            <a:ext cx="4892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B0"/>
                </a:solidFill>
                <a:latin typeface="Cascadia Mono"/>
              </a:rPr>
              <a:t>Login.jsx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2998723"/>
            <a:ext cx="5477256" cy="2012696"/>
          </a:xfrm>
          <a:prstGeom prst="rect">
            <a:avLst/>
          </a:prstGeom>
          <a:solidFill>
            <a:srgbClr val="26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005840" y="2998723"/>
            <a:ext cx="32004" cy="201269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85216" y="2319527"/>
            <a:ext cx="420624" cy="3343656"/>
          </a:xfrm>
          <a:prstGeom prst="rect">
            <a:avLst/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005840" y="2319527"/>
            <a:ext cx="10972" cy="334365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66928" y="2557271"/>
            <a:ext cx="365760" cy="3133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2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3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4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5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6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7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8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9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10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11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2557271"/>
            <a:ext cx="4983480" cy="289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...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</a:t>
            </a:r>
            <a:r>
              <a:rPr sz="1300" b="0" i="0">
                <a:solidFill>
                  <a:srgbClr val="C586C0"/>
                </a:solidFill>
                <a:latin typeface="Cascadia Mono"/>
              </a:rPr>
              <a:t>if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(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email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"user@email.com"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&amp;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&amp;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   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senha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"123456"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)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{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  </a:t>
            </a:r>
            <a:r>
              <a:rPr sz="1300" b="0" i="0">
                <a:solidFill>
                  <a:srgbClr val="DCDCAA"/>
                </a:solidFill>
                <a:latin typeface="Cascadia Mono"/>
              </a:rPr>
              <a:t>alert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(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"Login realizado com sucesso!"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)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  </a:t>
            </a:r>
            <a:r>
              <a:rPr sz="1300" b="0" i="0">
                <a:solidFill>
                  <a:srgbClr val="DCDCAA"/>
                </a:solidFill>
                <a:latin typeface="Cascadia Mono"/>
              </a:rPr>
              <a:t>setErro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(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""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)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}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586C0"/>
                </a:solidFill>
                <a:latin typeface="Cascadia Mono"/>
              </a:rPr>
              <a:t>else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{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  </a:t>
            </a:r>
            <a:r>
              <a:rPr sz="1300" b="0" i="0">
                <a:solidFill>
                  <a:srgbClr val="DCDCAA"/>
                </a:solidFill>
                <a:latin typeface="Cascadia Mono"/>
              </a:rPr>
              <a:t>setErro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(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"E-mail ou senha incorretos."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)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}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}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...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03720" y="1627632"/>
            <a:ext cx="41148" cy="4370832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214616" y="1700784"/>
            <a:ext cx="4410151" cy="3182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As condicionais if e else funcionam da mesma maneira que vemos em outras linguagens. Nesse exemplo nós fazemos um check: se o e-mail digitado é "user@email.com" e a senha é "123456".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Caso dê "match", vai gerar um alert na página dizendo que o login foi realizado. Caso contrário, muda a mensagem de erro para "E-mail ou senha incorretos".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E assim finalizamos as nossas duas funções: a aninhada e também a de Login.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04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08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16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566928" y="6711696"/>
            <a:ext cx="5528919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3048609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3048609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BORA COMEÇAR?  ·  INÍCIO DA APLICAÇÃO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59893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8E8F0"/>
                </a:solidFill>
                <a:latin typeface="Cascadia Mono"/>
              </a:rPr>
              <a:t>return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2297430"/>
            <a:ext cx="5989320" cy="3031236"/>
          </a:xfrm>
          <a:prstGeom prst="roundRect">
            <a:avLst>
              <a:gd name="adj" fmla="val 35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 Same Side Corner Rectangle 8"/>
          <p:cNvSpPr/>
          <p:nvPr/>
        </p:nvSpPr>
        <p:spPr>
          <a:xfrm>
            <a:off x="566928" y="2297430"/>
            <a:ext cx="5989320" cy="384048"/>
          </a:xfrm>
          <a:prstGeom prst="round2SameRect">
            <a:avLst>
              <a:gd name="adj1" fmla="val 9000"/>
              <a:gd name="adj2" fmla="val 0"/>
            </a:avLst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2663190"/>
            <a:ext cx="5989320" cy="18288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68096" y="2439162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69264" y="2439162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170432" y="2439162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435607" y="2379726"/>
            <a:ext cx="4892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B0"/>
                </a:solidFill>
                <a:latin typeface="Cascadia Mono"/>
              </a:rPr>
              <a:t>Login.jsx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360674"/>
            <a:ext cx="5477256" cy="1288796"/>
          </a:xfrm>
          <a:prstGeom prst="rect">
            <a:avLst/>
          </a:prstGeom>
          <a:solidFill>
            <a:srgbClr val="26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005840" y="3360674"/>
            <a:ext cx="32004" cy="128879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85216" y="2681478"/>
            <a:ext cx="420624" cy="2619756"/>
          </a:xfrm>
          <a:prstGeom prst="rect">
            <a:avLst/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005840" y="2681478"/>
            <a:ext cx="10972" cy="261975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66928" y="2919222"/>
            <a:ext cx="365760" cy="24094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2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3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4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5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6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7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8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2919222"/>
            <a:ext cx="4983480" cy="2171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...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</a:t>
            </a:r>
            <a:r>
              <a:rPr sz="1300" b="0" i="0">
                <a:solidFill>
                  <a:srgbClr val="C586C0"/>
                </a:solidFill>
                <a:latin typeface="Cascadia Mono"/>
              </a:rPr>
              <a:t>return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(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&lt;div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className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"container"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  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&lt;form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onSubmit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{</a:t>
            </a:r>
            <a:r>
              <a:rPr sz="1300" b="0" i="0">
                <a:solidFill>
                  <a:srgbClr val="DCDCAA"/>
                </a:solidFill>
                <a:latin typeface="Cascadia Mono"/>
              </a:rPr>
              <a:t>handleSubmit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}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    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&lt;h2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&gt;</a:t>
            </a:r>
            <a:r>
              <a:rPr sz="1300" b="0" i="0">
                <a:solidFill>
                  <a:srgbClr val="DCDCAA"/>
                </a:solidFill>
                <a:latin typeface="Cascadia Mono"/>
              </a:rPr>
              <a:t>Login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&lt;/h2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...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03720" y="1627632"/>
            <a:ext cx="41148" cy="4370832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214616" y="1700784"/>
            <a:ext cx="4410151" cy="3182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O return no JS basicamente termina em uma linha só — por isso ele usa parênteses ( ) e não chaves, como funções, métodos e classes.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Porém, se precisarmos de mais linhas, podemos escrever seguindo a sintaxe do exemplo ao lado.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E dentro do return nós vamos trabalhar com trechos em HTML e também em JS.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04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09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16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566928" y="6711696"/>
            <a:ext cx="6220034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3048609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3048609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BORA COMEÇAR?  ·  INÍCIO DA APLICAÇÃO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59893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8E8F0"/>
                </a:solidFill>
                <a:latin typeface="Cascadia Mono"/>
              </a:rPr>
              <a:t>input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2056130"/>
            <a:ext cx="5989320" cy="3513836"/>
          </a:xfrm>
          <a:prstGeom prst="roundRect">
            <a:avLst>
              <a:gd name="adj" fmla="val 35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 Same Side Corner Rectangle 8"/>
          <p:cNvSpPr/>
          <p:nvPr/>
        </p:nvSpPr>
        <p:spPr>
          <a:xfrm>
            <a:off x="566928" y="2056130"/>
            <a:ext cx="5989320" cy="384048"/>
          </a:xfrm>
          <a:prstGeom prst="round2SameRect">
            <a:avLst>
              <a:gd name="adj1" fmla="val 9000"/>
              <a:gd name="adj2" fmla="val 0"/>
            </a:avLst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2421890"/>
            <a:ext cx="5989320" cy="18288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68096" y="2197862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69264" y="2197862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170432" y="2197862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435607" y="2138426"/>
            <a:ext cx="4892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B0"/>
                </a:solidFill>
                <a:latin typeface="Cascadia Mono"/>
              </a:rPr>
              <a:t>Login.jsx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119374"/>
            <a:ext cx="5477256" cy="1771396"/>
          </a:xfrm>
          <a:prstGeom prst="rect">
            <a:avLst/>
          </a:prstGeom>
          <a:solidFill>
            <a:srgbClr val="26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005840" y="3119374"/>
            <a:ext cx="32004" cy="177139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85216" y="2440178"/>
            <a:ext cx="420624" cy="3102356"/>
          </a:xfrm>
          <a:prstGeom prst="rect">
            <a:avLst/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005840" y="2440178"/>
            <a:ext cx="10972" cy="310235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66928" y="2677922"/>
            <a:ext cx="365760" cy="28920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2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3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4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5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6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7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8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9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10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2677922"/>
            <a:ext cx="4983480" cy="2654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...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    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&lt;input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     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type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"email"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     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placeholder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"Email"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     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value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{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email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}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     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onChange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{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(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e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)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        </a:t>
            </a:r>
            <a:r>
              <a:rPr sz="1300" b="0" i="0">
                <a:solidFill>
                  <a:srgbClr val="DCDCAA"/>
                </a:solidFill>
                <a:latin typeface="Cascadia Mono"/>
              </a:rPr>
              <a:t>setEmail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(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e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.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target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.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value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)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}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    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/&gt;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...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03720" y="1627632"/>
            <a:ext cx="41148" cy="4370832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214616" y="1700784"/>
            <a:ext cx="4410151" cy="3182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Quando usamos o type="email" nós dizemos ao navegador que esse campo é um e-mail — o teclado do teu celular vai abrir no formato de e-mail, por exemplo.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O placeholder é aquele texto cinza que aparece dentro do campo; dá para trocar por qualquer texto que for mais interessante.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O value junto com o onChange transforma o campo em um componente controlado: o React passa a ser a fonte da verdade do que está digitado.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14616" y="5102352"/>
            <a:ext cx="4410151" cy="896112"/>
          </a:xfrm>
          <a:prstGeom prst="roundRect">
            <a:avLst>
              <a:gd name="adj" fmla="val 5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434071" y="5257800"/>
            <a:ext cx="397123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07178"/>
                </a:solidFill>
                <a:latin typeface="Segoe UI"/>
              </a:rPr>
              <a:t>Atenção: </a:t>
            </a:r>
            <a:r>
              <a:rPr sz="1250" b="0" i="0">
                <a:solidFill>
                  <a:srgbClr val="9A9AB0"/>
                </a:solidFill>
                <a:latin typeface="Segoe UI"/>
              </a:rPr>
              <a:t>é o value </a:t>
            </a:r>
            <a:r>
              <a:rPr sz="1250" b="1" i="0">
                <a:solidFill>
                  <a:srgbClr val="E8E8F0"/>
                </a:solidFill>
                <a:latin typeface="Segoe UI"/>
              </a:rPr>
              <a:t>sem</a:t>
            </a:r>
            <a:r>
              <a:rPr sz="1250" b="0" i="0">
                <a:solidFill>
                  <a:srgbClr val="9A9AB0"/>
                </a:solidFill>
                <a:latin typeface="Segoe UI"/>
              </a:rPr>
              <a:t> o onChange que travaria o campo como somente leitura.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04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10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16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66928" y="6711696"/>
            <a:ext cx="6911149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3798417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3798417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BORA COMEÇAR?  ·  INÍCIO DA APLICAÇÃO  ·  INPUT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59893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8E8F0"/>
                </a:solidFill>
                <a:latin typeface="Cascadia Mono"/>
              </a:rPr>
              <a:t>{erro &amp;&amp; …}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1935479"/>
            <a:ext cx="5989320" cy="3755136"/>
          </a:xfrm>
          <a:prstGeom prst="roundRect">
            <a:avLst>
              <a:gd name="adj" fmla="val 35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 Same Side Corner Rectangle 8"/>
          <p:cNvSpPr/>
          <p:nvPr/>
        </p:nvSpPr>
        <p:spPr>
          <a:xfrm>
            <a:off x="566928" y="1935479"/>
            <a:ext cx="5989320" cy="384048"/>
          </a:xfrm>
          <a:prstGeom prst="round2SameRect">
            <a:avLst>
              <a:gd name="adj1" fmla="val 9000"/>
              <a:gd name="adj2" fmla="val 0"/>
            </a:avLst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2301239"/>
            <a:ext cx="5989320" cy="18288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68096" y="2077211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69264" y="2077211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170432" y="2077211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435607" y="2017775"/>
            <a:ext cx="4892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B0"/>
                </a:solidFill>
                <a:latin typeface="Cascadia Mono"/>
              </a:rPr>
              <a:t>Login.jsx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4687823"/>
            <a:ext cx="5477256" cy="323596"/>
          </a:xfrm>
          <a:prstGeom prst="rect">
            <a:avLst/>
          </a:prstGeom>
          <a:solidFill>
            <a:srgbClr val="26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005840" y="4687823"/>
            <a:ext cx="32004" cy="32359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85216" y="2319527"/>
            <a:ext cx="420624" cy="3343656"/>
          </a:xfrm>
          <a:prstGeom prst="rect">
            <a:avLst/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005840" y="2319527"/>
            <a:ext cx="10972" cy="334365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66928" y="2557271"/>
            <a:ext cx="365760" cy="3133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2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3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4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5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6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7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8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9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10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11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2557271"/>
            <a:ext cx="4983480" cy="289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...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    &lt;input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      type="password"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      placeholder="Senha"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      value={senha}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      onChange={(e) =&gt;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        setSenha(e.target.value)}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    /&gt;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   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{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erro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&amp;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&amp;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&lt;p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className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"erro"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&gt;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{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erro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}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&lt;/p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&gt;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}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...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03720" y="1627632"/>
            <a:ext cx="41148" cy="4370832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214616" y="1700784"/>
            <a:ext cx="4410151" cy="3182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Se fôssemos ler a última linha em voz alta, leríamos assim: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Se a variável </a:t>
            </a:r>
            <a:r>
              <a:rPr sz="1450" b="1" i="0">
                <a:solidFill>
                  <a:srgbClr val="9CDCFE"/>
                </a:solidFill>
                <a:latin typeface="Cascadia Mono"/>
              </a:rPr>
              <a:t>erro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 for verdadeira (tiver algum texto), ENTÃO mostre o parágrafo </a:t>
            </a:r>
            <a:r>
              <a:rPr sz="1450" b="1" i="0">
                <a:solidFill>
                  <a:srgbClr val="4EC9F0"/>
                </a:solidFill>
                <a:latin typeface="Cascadia Mono"/>
              </a:rPr>
              <a:t>&lt;p&gt;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 com a mensagem.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Ele usa uma lógica do JavaScript chamada Curto-Circuito para decidir se deve ou não mostrar algo na tela.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04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11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16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566928" y="6711696"/>
            <a:ext cx="7602264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3048609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3048609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BORA COMEÇAR?  ·  INÍCIO DA APLICAÇÃO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59893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8E8F0"/>
                </a:solidFill>
                <a:latin typeface="Cascadia Mono"/>
              </a:rPr>
              <a:t>button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2297430"/>
            <a:ext cx="5989320" cy="3031236"/>
          </a:xfrm>
          <a:prstGeom prst="roundRect">
            <a:avLst>
              <a:gd name="adj" fmla="val 35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 Same Side Corner Rectangle 8"/>
          <p:cNvSpPr/>
          <p:nvPr/>
        </p:nvSpPr>
        <p:spPr>
          <a:xfrm>
            <a:off x="566928" y="2297430"/>
            <a:ext cx="5989320" cy="384048"/>
          </a:xfrm>
          <a:prstGeom prst="round2SameRect">
            <a:avLst>
              <a:gd name="adj1" fmla="val 9000"/>
              <a:gd name="adj2" fmla="val 0"/>
            </a:avLst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2663190"/>
            <a:ext cx="5989320" cy="18288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68096" y="2439162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69264" y="2439162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170432" y="2439162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435607" y="2379726"/>
            <a:ext cx="4892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B0"/>
                </a:solidFill>
                <a:latin typeface="Cascadia Mono"/>
              </a:rPr>
              <a:t>Login.jsx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360674"/>
            <a:ext cx="5477256" cy="323596"/>
          </a:xfrm>
          <a:prstGeom prst="rect">
            <a:avLst/>
          </a:prstGeom>
          <a:solidFill>
            <a:srgbClr val="26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005840" y="3360674"/>
            <a:ext cx="32004" cy="32359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85216" y="2681478"/>
            <a:ext cx="420624" cy="2619756"/>
          </a:xfrm>
          <a:prstGeom prst="rect">
            <a:avLst/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005840" y="2681478"/>
            <a:ext cx="10972" cy="261975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66928" y="2919222"/>
            <a:ext cx="365760" cy="24094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2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6CF5"/>
                </a:solidFill>
                <a:latin typeface="Cascadia Mono"/>
              </a:rPr>
              <a:t>3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4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5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6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7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8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2919222"/>
            <a:ext cx="4983480" cy="2171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...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      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&lt;button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type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=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"submit"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&gt;</a:t>
            </a:r>
            <a:r>
              <a:rPr sz="1300" b="0" i="0">
                <a:solidFill>
                  <a:srgbClr val="9CDCFE"/>
                </a:solidFill>
                <a:latin typeface="Cascadia Mono"/>
              </a:rPr>
              <a:t>Entrar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&lt;/button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  &lt;/form&gt;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  &lt;/div&gt;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  );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}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export default Login;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03720" y="1627632"/>
            <a:ext cx="41148" cy="4370832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214616" y="1700784"/>
            <a:ext cx="4410151" cy="3182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É idêntico ao button do HTML, com algumas mudanças: basicamente ele vai avisar, nos eventos, que nós clicamos nesse botão.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Como ele é type="submit" e está dentro do &lt;form&gt;, clicar nele dispara o onSubmit — ou seja, o nosso handleSubmit.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14616" y="5102352"/>
            <a:ext cx="4410151" cy="896112"/>
          </a:xfrm>
          <a:prstGeom prst="roundRect">
            <a:avLst>
              <a:gd name="adj" fmla="val 5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434071" y="5257800"/>
            <a:ext cx="397123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CDCAA"/>
                </a:solidFill>
                <a:latin typeface="Cascadia Mono"/>
              </a:rPr>
              <a:t>export default Login</a:t>
            </a:r>
            <a:r>
              <a:rPr sz="1250" b="0" i="0">
                <a:solidFill>
                  <a:srgbClr val="9A9AB0"/>
                </a:solidFill>
                <a:latin typeface="Segoe UI"/>
              </a:rPr>
              <a:t>
Essa linha no final do arquivo é o que permite que esse componente seja usado em outros lugares.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04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12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16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66928" y="6711696"/>
            <a:ext cx="8293379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1399032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3990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INICIANDO O CSS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8E8F0"/>
                </a:solidFill>
                <a:latin typeface="Bahnschrift SemiBold Condensed"/>
              </a:rPr>
              <a:t>Agora vamos estilizar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1783080"/>
            <a:ext cx="87782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A9AB0"/>
                </a:solidFill>
                <a:latin typeface="Segoe UI"/>
              </a:rPr>
              <a:t>A página deve ser estilizada de acordo com as tuas preferências. Porém, vamos usar nesse exemplo uma estética que acabei criando — e para usar essa estilização vamos fazer o seguinte passo a passo: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96722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96112" y="296722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10512" y="296722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Criar um novo arquivo dentro do nosso projeto.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06450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96112" y="406450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10512" y="406450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Nomear ele para </a:t>
            </a:r>
            <a:r>
              <a:rPr sz="1600" b="1" i="0">
                <a:solidFill>
                  <a:srgbClr val="DCDCAA"/>
                </a:solidFill>
                <a:latin typeface="Cascadia Mono"/>
              </a:rPr>
              <a:t>Login.css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16178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96112" y="516178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10512" y="516178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Importar ele no nosso arquivo JSX usando </a:t>
            </a:r>
            <a:r>
              <a:rPr sz="1600" b="1" i="0">
                <a:solidFill>
                  <a:srgbClr val="DCDCAA"/>
                </a:solidFill>
                <a:latin typeface="Cascadia Mono"/>
              </a:rPr>
              <a:t>import "./Login.css";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 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04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13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16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566928" y="6711696"/>
            <a:ext cx="8984494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1399032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3990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INICIANDO O CSS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73152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8E8F0"/>
                </a:solidFill>
                <a:latin typeface="Cascadia Mono"/>
              </a:rPr>
              <a:t>Login.css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81328"/>
            <a:ext cx="5391759" cy="4617720"/>
          </a:xfrm>
          <a:prstGeom prst="roundRect">
            <a:avLst>
              <a:gd name="adj" fmla="val 35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 Same Side Corner Rectangle 6"/>
          <p:cNvSpPr/>
          <p:nvPr/>
        </p:nvSpPr>
        <p:spPr>
          <a:xfrm>
            <a:off x="566928" y="1481328"/>
            <a:ext cx="5391759" cy="384048"/>
          </a:xfrm>
          <a:prstGeom prst="round2SameRect">
            <a:avLst>
              <a:gd name="adj1" fmla="val 9000"/>
              <a:gd name="adj2" fmla="val 0"/>
            </a:avLst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847088"/>
            <a:ext cx="5391759" cy="18288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68096" y="1623060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969264" y="1623060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170432" y="1623060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435607" y="1563624"/>
            <a:ext cx="42944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B0"/>
                </a:solidFill>
                <a:latin typeface="Cascadia Mono"/>
              </a:rPr>
              <a:t>Login.css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" y="1865376"/>
            <a:ext cx="420624" cy="4206240"/>
          </a:xfrm>
          <a:prstGeom prst="rect">
            <a:avLst/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1005840" y="1865376"/>
            <a:ext cx="10972" cy="4206240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66928" y="2103120"/>
            <a:ext cx="365760" cy="3995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1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2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3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4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5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6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7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8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9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10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11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12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13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14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15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16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17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103120"/>
            <a:ext cx="4385919" cy="37581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7BA7D"/>
                </a:solidFill>
                <a:latin typeface="Cascadia Mono"/>
              </a:rPr>
              <a:t>.container 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{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display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flex;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justify-content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center;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align-items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center;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height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B5CEA8"/>
                </a:solidFill>
                <a:latin typeface="Cascadia Mono"/>
              </a:rPr>
              <a:t>100vh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background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B5CEA8"/>
                </a:solidFill>
                <a:latin typeface="Cascadia Mono"/>
              </a:rPr>
              <a:t>#f0f2f5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}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7BA7D"/>
                </a:solidFill>
                <a:latin typeface="Cascadia Mono"/>
              </a:rPr>
              <a:t>form 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{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background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white;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padding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B5CEA8"/>
                </a:solidFill>
                <a:latin typeface="Cascadia Mono"/>
              </a:rPr>
              <a:t>2rem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border-radius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B5CEA8"/>
                </a:solidFill>
                <a:latin typeface="Cascadia Mono"/>
              </a:rPr>
              <a:t>8px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box-shadow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B5CEA8"/>
                </a:solidFill>
                <a:latin typeface="Cascadia Mono"/>
              </a:rPr>
              <a:t>0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B5CEA8"/>
                </a:solidFill>
                <a:latin typeface="Cascadia Mono"/>
              </a:rPr>
              <a:t>2px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B5CEA8"/>
                </a:solidFill>
                <a:latin typeface="Cascadia Mono"/>
              </a:rPr>
              <a:t>10px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rgba(0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,</a:t>
            </a:r>
            <a:r>
              <a:rPr sz="1150" b="0" i="0">
                <a:solidFill>
                  <a:srgbClr val="B5CEA8"/>
                </a:solidFill>
                <a:latin typeface="Cascadia Mono"/>
              </a:rPr>
              <a:t>0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,</a:t>
            </a:r>
            <a:r>
              <a:rPr sz="1150" b="0" i="0">
                <a:solidFill>
                  <a:srgbClr val="B5CEA8"/>
                </a:solidFill>
                <a:latin typeface="Cascadia Mono"/>
              </a:rPr>
              <a:t>0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,</a:t>
            </a:r>
            <a:r>
              <a:rPr sz="1150" b="0" i="0">
                <a:solidFill>
                  <a:srgbClr val="B5CEA8"/>
                </a:solidFill>
                <a:latin typeface="Cascadia Mono"/>
              </a:rPr>
              <a:t>0.1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);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display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flex;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flex-direction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column;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gap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B5CEA8"/>
                </a:solidFill>
                <a:latin typeface="Cascadia Mono"/>
              </a:rPr>
              <a:t>1rem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width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B5CEA8"/>
                </a:solidFill>
                <a:latin typeface="Cascadia Mono"/>
              </a:rPr>
              <a:t>300px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3007" y="1481328"/>
            <a:ext cx="5391759" cy="4617720"/>
          </a:xfrm>
          <a:prstGeom prst="roundRect">
            <a:avLst>
              <a:gd name="adj" fmla="val 35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 Same Side Corner Rectangle 17"/>
          <p:cNvSpPr/>
          <p:nvPr/>
        </p:nvSpPr>
        <p:spPr>
          <a:xfrm>
            <a:off x="6233007" y="1481328"/>
            <a:ext cx="5391759" cy="384048"/>
          </a:xfrm>
          <a:prstGeom prst="round2SameRect">
            <a:avLst>
              <a:gd name="adj1" fmla="val 9000"/>
              <a:gd name="adj2" fmla="val 0"/>
            </a:avLst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233007" y="1847088"/>
            <a:ext cx="5391759" cy="18288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6434175" y="1623060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6635343" y="1623060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6836511" y="1623060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101687" y="1563624"/>
            <a:ext cx="42944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B0"/>
                </a:solidFill>
                <a:latin typeface="Cascadia Mono"/>
              </a:rPr>
              <a:t>Login.css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51295" y="1865376"/>
            <a:ext cx="420624" cy="4206240"/>
          </a:xfrm>
          <a:prstGeom prst="rect">
            <a:avLst/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671919" y="1865376"/>
            <a:ext cx="10972" cy="4206240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233007" y="2103120"/>
            <a:ext cx="365760" cy="3995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1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2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3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4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5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6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7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8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9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10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11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12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13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14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15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16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17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18</a:t>
            </a:r>
          </a:p>
          <a:p>
            <a:pPr algn="r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6A80"/>
                </a:solidFill>
                <a:latin typeface="Cascadia Mono"/>
              </a:rPr>
              <a:t>19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6239" y="2103120"/>
            <a:ext cx="4385919" cy="37581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7BA7D"/>
                </a:solidFill>
                <a:latin typeface="Cascadia Mono"/>
              </a:rPr>
              <a:t>input 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{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padding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B5CEA8"/>
                </a:solidFill>
                <a:latin typeface="Cascadia Mono"/>
              </a:rPr>
              <a:t>0.75rem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border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B5CEA8"/>
                </a:solidFill>
                <a:latin typeface="Cascadia Mono"/>
              </a:rPr>
              <a:t>1px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solid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B5CEA8"/>
                </a:solidFill>
                <a:latin typeface="Cascadia Mono"/>
              </a:rPr>
              <a:t>#ccc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border-radius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B5CEA8"/>
                </a:solidFill>
                <a:latin typeface="Cascadia Mono"/>
              </a:rPr>
              <a:t>6px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font-size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B5CEA8"/>
                </a:solidFill>
                <a:latin typeface="Cascadia Mono"/>
              </a:rPr>
              <a:t>1rem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}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7BA7D"/>
                </a:solidFill>
                <a:latin typeface="Cascadia Mono"/>
              </a:rPr>
              <a:t>button 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{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padding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B5CEA8"/>
                </a:solidFill>
                <a:latin typeface="Cascadia Mono"/>
              </a:rPr>
              <a:t>0.75rem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background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B5CEA8"/>
                </a:solidFill>
                <a:latin typeface="Cascadia Mono"/>
              </a:rPr>
              <a:t>#4f46e5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color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white;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border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none;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border-radius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B5CEA8"/>
                </a:solidFill>
                <a:latin typeface="Cascadia Mono"/>
              </a:rPr>
              <a:t>6px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font-size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B5CEA8"/>
                </a:solidFill>
                <a:latin typeface="Cascadia Mono"/>
              </a:rPr>
              <a:t>1rem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  cursor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pointer;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}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button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hover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{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background: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B5CEA8"/>
                </a:solidFill>
                <a:latin typeface="Cascadia Mono"/>
              </a:rPr>
              <a:t>#4338ca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;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}</a:t>
            </a:r>
          </a:p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CDCFE"/>
                </a:solidFill>
                <a:latin typeface="Cascadia Mono"/>
              </a:rPr>
              <a:t>.erro { color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red;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font-size: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B5CEA8"/>
                </a:solidFill>
                <a:latin typeface="Cascadia Mono"/>
              </a:rPr>
              <a:t>0.85rem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;</a:t>
            </a:r>
            <a:r>
              <a:rPr sz="115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150" b="0" i="0">
                <a:solidFill>
                  <a:srgbClr val="CE9178"/>
                </a:solidFill>
                <a:latin typeface="Cascadia Mono"/>
              </a:rPr>
              <a:t>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04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14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16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566928" y="6711696"/>
            <a:ext cx="9675609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799185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79918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POR FIM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59893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8E8F0"/>
                </a:solidFill>
                <a:latin typeface="Cascadia Mono"/>
              </a:rPr>
              <a:t>App.jsx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2538730"/>
            <a:ext cx="5989320" cy="2548636"/>
          </a:xfrm>
          <a:prstGeom prst="roundRect">
            <a:avLst>
              <a:gd name="adj" fmla="val 35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 Same Side Corner Rectangle 8"/>
          <p:cNvSpPr/>
          <p:nvPr/>
        </p:nvSpPr>
        <p:spPr>
          <a:xfrm>
            <a:off x="566928" y="2538730"/>
            <a:ext cx="5989320" cy="384048"/>
          </a:xfrm>
          <a:prstGeom prst="round2SameRect">
            <a:avLst>
              <a:gd name="adj1" fmla="val 9000"/>
              <a:gd name="adj2" fmla="val 0"/>
            </a:avLst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2904490"/>
            <a:ext cx="5989320" cy="18288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68096" y="2680462"/>
            <a:ext cx="100584" cy="100584"/>
          </a:xfrm>
          <a:prstGeom prst="ellipse">
            <a:avLst/>
          </a:prstGeom>
          <a:solidFill>
            <a:srgbClr val="F07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69264" y="2680462"/>
            <a:ext cx="100584" cy="100584"/>
          </a:xfrm>
          <a:prstGeom prst="ellipse">
            <a:avLst/>
          </a:prstGeom>
          <a:solidFill>
            <a:srgbClr val="E0B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170432" y="2680462"/>
            <a:ext cx="100584" cy="100584"/>
          </a:xfrm>
          <a:prstGeom prst="ellipse">
            <a:avLst/>
          </a:prstGeom>
          <a:solidFill>
            <a:srgbClr val="4E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435607" y="2621026"/>
            <a:ext cx="4892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B0"/>
                </a:solidFill>
                <a:latin typeface="Cascadia Mono"/>
              </a:rPr>
              <a:t>App.jsx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" y="2922778"/>
            <a:ext cx="420624" cy="2137156"/>
          </a:xfrm>
          <a:prstGeom prst="rect">
            <a:avLst/>
          </a:prstGeom>
          <a:solidFill>
            <a:srgbClr val="24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005840" y="2922778"/>
            <a:ext cx="10972" cy="213715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66928" y="3160522"/>
            <a:ext cx="365760" cy="1926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1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2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3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4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5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6</a:t>
            </a:r>
          </a:p>
          <a:p>
            <a:pPr algn="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6A80"/>
                </a:solidFill>
                <a:latin typeface="Cascadia Mono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160522"/>
            <a:ext cx="4983480" cy="168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586C0"/>
                </a:solidFill>
                <a:latin typeface="Cascadia Mono"/>
              </a:rPr>
              <a:t>import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DCDCAA"/>
                </a:solidFill>
                <a:latin typeface="Cascadia Mono"/>
              </a:rPr>
              <a:t>Login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586C0"/>
                </a:solidFill>
                <a:latin typeface="Cascadia Mono"/>
              </a:rPr>
              <a:t>from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E9178"/>
                </a:solidFill>
                <a:latin typeface="Cascadia Mono"/>
              </a:rPr>
              <a:t>"./Login"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586C0"/>
                </a:solidFill>
                <a:latin typeface="Cascadia Mono"/>
              </a:rPr>
              <a:t>function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DCDCAA"/>
                </a:solidFill>
                <a:latin typeface="Cascadia Mono"/>
              </a:rPr>
              <a:t>App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(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)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{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 </a:t>
            </a:r>
            <a:r>
              <a:rPr sz="1300" b="0" i="0">
                <a:solidFill>
                  <a:srgbClr val="C586C0"/>
                </a:solidFill>
                <a:latin typeface="Cascadia Mono"/>
              </a:rPr>
              <a:t>return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&lt;Login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4EC9F0"/>
                </a:solidFill>
                <a:latin typeface="Cascadia Mono"/>
              </a:rPr>
              <a:t>/&gt;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;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}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586C0"/>
                </a:solidFill>
                <a:latin typeface="Cascadia Mono"/>
              </a:rPr>
              <a:t>export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C586C0"/>
                </a:solidFill>
                <a:latin typeface="Cascadia Mono"/>
              </a:rPr>
              <a:t>default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 </a:t>
            </a:r>
            <a:r>
              <a:rPr sz="1300" b="0" i="0">
                <a:solidFill>
                  <a:srgbClr val="DCDCAA"/>
                </a:solidFill>
                <a:latin typeface="Cascadia Mono"/>
              </a:rPr>
              <a:t>App</a:t>
            </a:r>
            <a:r>
              <a:rPr sz="1300" b="0" i="0">
                <a:solidFill>
                  <a:srgbClr val="C8C8D4"/>
                </a:solidFill>
                <a:latin typeface="Cascadia Mono"/>
              </a:rPr>
              <a:t>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03720" y="1627632"/>
            <a:ext cx="41148" cy="4370832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214616" y="1700784"/>
            <a:ext cx="4410151" cy="3182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Falta importar o Login dentro do arquivo App.jsx — é ele que o React coloca na tela quando a aplicação sobe.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O </a:t>
            </a:r>
            <a:r>
              <a:rPr sz="1450" b="1" i="0">
                <a:solidFill>
                  <a:srgbClr val="4EC9F0"/>
                </a:solidFill>
                <a:latin typeface="Cascadia Mono"/>
              </a:rPr>
              <a:t>&lt;Login /&gt;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 é o nosso componente sendo usado como se fosse uma tag do HTML. Isso só é possível por causa do </a:t>
            </a:r>
            <a:r>
              <a:rPr sz="1450" b="1" i="0">
                <a:solidFill>
                  <a:srgbClr val="C586C0"/>
                </a:solidFill>
                <a:latin typeface="Cascadia Mono"/>
              </a:rPr>
              <a:t>export default</a:t>
            </a:r>
            <a:r>
              <a:rPr sz="1450" b="0" i="0">
                <a:solidFill>
                  <a:srgbClr val="9A9AB0"/>
                </a:solidFill>
                <a:latin typeface="Segoe UI"/>
              </a:rPr>
              <a:t> lá no final do Login.jsx.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9A9AB0"/>
                </a:solidFill>
                <a:latin typeface="Segoe UI"/>
              </a:rPr>
              <a:t>Salve tudo, volte ao navegador e a tela de login já deve estar lá.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04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15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16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66928" y="6711696"/>
            <a:ext cx="10366724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D1A2E"/>
              </a:gs>
              <a:gs pos="100000">
                <a:srgbClr val="12121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874166" cy="292608"/>
          </a:xfrm>
          <a:prstGeom prst="roundRect">
            <a:avLst>
              <a:gd name="adj" fmla="val 50000"/>
            </a:avLst>
          </a:prstGeom>
          <a:solidFill>
            <a:srgbClr val="26224A"/>
          </a:solidFill>
          <a:ln w="12700">
            <a:solidFill>
              <a:srgbClr val="3B3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874166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6CF5"/>
                </a:solidFill>
                <a:latin typeface="Segoe UI"/>
              </a:rPr>
              <a:t>E AGORA?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105783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8E8F0"/>
                </a:solidFill>
                <a:latin typeface="Bahnschrift SemiBold Condensed"/>
              </a:rPr>
              <a:t>O teu trabalho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87398"/>
            <a:ext cx="2834640" cy="16459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1051560" cy="45720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66928" y="241858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6112" y="241858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10512" y="241858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Adicionar botão </a:t>
            </a:r>
            <a:r>
              <a:rPr sz="1600" b="1" i="0">
                <a:solidFill>
                  <a:srgbClr val="E8E8F0"/>
                </a:solidFill>
                <a:latin typeface="Segoe UI"/>
              </a:rPr>
              <a:t>mostrar / ocultar senha</a:t>
            </a:r>
            <a:r>
              <a:rPr sz="1600" b="0" i="0">
                <a:solidFill>
                  <a:srgbClr val="E8E8F0"/>
                </a:solidFill>
                <a:latin typeface="Segoe UI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51586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96112" y="351586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0512" y="351586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Editar a estética no CSS e deixá-la adequada ao visual que você deseja para a tua aplicação.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61314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1E1E2A"/>
          </a:solidFill>
          <a:ln w="12700">
            <a:solidFill>
              <a:srgbClr val="2E2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96112" y="4613148"/>
            <a:ext cx="822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C6CF5"/>
                </a:solidFill>
                <a:latin typeface="Cascadia Mon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10512" y="4613148"/>
            <a:ext cx="968623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E8F0"/>
                </a:solidFill>
                <a:latin typeface="Segoe UI"/>
              </a:rPr>
              <a:t>Começar a criar a nova página da tua aplicação, conforme conversaremos em aula :)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382512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80"/>
                </a:solidFill>
                <a:latin typeface="Segoe UI"/>
              </a:rPr>
              <a:t>Programação Web 2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Aula 04</a:t>
            </a:r>
            <a:r>
              <a:rPr sz="1000" b="0" i="0">
                <a:solidFill>
                  <a:srgbClr val="7C6CF5"/>
                </a:solidFill>
                <a:latin typeface="Segoe UI"/>
              </a:rPr>
              <a:t>  ·  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Escola Técnica Mesquita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95967" y="63825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B0"/>
                </a:solidFill>
                <a:latin typeface="Segoe UI"/>
              </a:rPr>
              <a:t>16</a:t>
            </a:r>
            <a:r>
              <a:rPr sz="1000" b="0" i="0">
                <a:solidFill>
                  <a:srgbClr val="6A6A80"/>
                </a:solidFill>
                <a:latin typeface="Segoe UI"/>
              </a:rPr>
              <a:t> / 16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2E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566928" y="6711696"/>
            <a:ext cx="11057839" cy="20116"/>
          </a:xfrm>
          <a:prstGeom prst="rect">
            <a:avLst/>
          </a:prstGeom>
          <a:solidFill>
            <a:srgbClr val="7C6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